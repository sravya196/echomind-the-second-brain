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8" r:id="rId3"/>
    <p:sldId id="259" r:id="rId4"/>
    <p:sldId id="261" r:id="rId5"/>
    <p:sldId id="260" r:id="rId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BAED6"/>
    <a:srgbClr val="F0F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2" d="100"/>
          <a:sy n="102" d="100"/>
        </p:scale>
        <p:origin x="7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09540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6BAED6"/>
          </a:solidFill>
          <a:ln w="12700">
            <a:solidFill>
              <a:srgbClr val="6BAED6"/>
            </a:solidFill>
            <a:prstDash val="solid"/>
          </a:ln>
        </p:spPr>
        <p:txBody>
          <a:bodyPr/>
          <a:lstStyle/>
          <a:p>
            <a:endParaRPr lang="en-IN" sz="1100" dirty="0"/>
          </a:p>
        </p:txBody>
      </p:sp>
      <p:sp>
        <p:nvSpPr>
          <p:cNvPr id="3" name="Shape 1"/>
          <p:cNvSpPr/>
          <p:nvPr/>
        </p:nvSpPr>
        <p:spPr>
          <a:xfrm>
            <a:off x="-632586" y="3675888"/>
            <a:ext cx="2296493" cy="2286824"/>
          </a:xfrm>
          <a:prstGeom prst="ellipse">
            <a:avLst/>
          </a:prstGeom>
          <a:solidFill>
            <a:srgbClr val="9ECAE1">
              <a:alpha val="45000"/>
            </a:srgbClr>
          </a:solidFill>
          <a:ln w="12700">
            <a:solidFill>
              <a:srgbClr val="9ECAE1"/>
            </a:solidFill>
            <a:prstDash val="solid"/>
          </a:ln>
        </p:spPr>
        <p:txBody>
          <a:bodyPr/>
          <a:lstStyle/>
          <a:p>
            <a:endParaRPr lang="en-IN"/>
          </a:p>
        </p:txBody>
      </p:sp>
      <p:sp>
        <p:nvSpPr>
          <p:cNvPr id="4" name="Shape 2"/>
          <p:cNvSpPr/>
          <p:nvPr/>
        </p:nvSpPr>
        <p:spPr>
          <a:xfrm>
            <a:off x="2130552" y="-736017"/>
            <a:ext cx="1828800" cy="1828800"/>
          </a:xfrm>
          <a:prstGeom prst="ellipse">
            <a:avLst/>
          </a:prstGeom>
          <a:solidFill>
            <a:srgbClr val="D0E9F7">
              <a:alpha val="70000"/>
            </a:srgbClr>
          </a:solidFill>
          <a:ln w="12700">
            <a:solidFill>
              <a:srgbClr val="D0E9F7"/>
            </a:solidFill>
            <a:prstDash val="solid"/>
          </a:ln>
        </p:spPr>
        <p:txBody>
          <a:bodyPr/>
          <a:lstStyle/>
          <a:p>
            <a:endParaRPr lang="en-IN"/>
          </a:p>
        </p:txBody>
      </p:sp>
      <p:pic>
        <p:nvPicPr>
          <p:cNvPr id="5" name="Image 0" descr="preencoded.png"/>
          <p:cNvPicPr>
            <a:picLocks noChangeAspect="1"/>
          </p:cNvPicPr>
          <p:nvPr/>
        </p:nvPicPr>
        <p:blipFill>
          <a:blip r:embed="rId3"/>
          <a:stretch>
            <a:fillRect/>
          </a:stretch>
        </p:blipFill>
        <p:spPr>
          <a:xfrm>
            <a:off x="365760" y="365760"/>
            <a:ext cx="1005840" cy="1005840"/>
          </a:xfrm>
          <a:prstGeom prst="rect">
            <a:avLst/>
          </a:prstGeom>
        </p:spPr>
      </p:pic>
      <p:sp>
        <p:nvSpPr>
          <p:cNvPr id="6" name="Text 3"/>
          <p:cNvSpPr/>
          <p:nvPr/>
        </p:nvSpPr>
        <p:spPr>
          <a:xfrm>
            <a:off x="164592" y="1508760"/>
            <a:ext cx="3246120" cy="868680"/>
          </a:xfrm>
          <a:prstGeom prst="rect">
            <a:avLst/>
          </a:prstGeom>
          <a:noFill/>
          <a:ln/>
        </p:spPr>
        <p:txBody>
          <a:bodyPr wrap="square" lIns="0" tIns="0" rIns="0" bIns="0" rtlCol="0" anchor="ctr"/>
          <a:lstStyle/>
          <a:p>
            <a:pPr marL="0" indent="0">
              <a:buNone/>
            </a:pPr>
            <a:r>
              <a:rPr lang="en-US" sz="3800" b="1" dirty="0">
                <a:solidFill>
                  <a:srgbClr val="FFFFFF"/>
                </a:solidFill>
                <a:latin typeface="Georgia" pitchFamily="34" charset="0"/>
                <a:ea typeface="Georgia" pitchFamily="34" charset="-122"/>
                <a:cs typeface="Georgia" pitchFamily="34" charset="-120"/>
              </a:rPr>
              <a:t>EchoMind</a:t>
            </a:r>
            <a:endParaRPr lang="en-US" sz="3800" dirty="0"/>
          </a:p>
        </p:txBody>
      </p:sp>
      <p:sp>
        <p:nvSpPr>
          <p:cNvPr id="7" name="Text 4"/>
          <p:cNvSpPr/>
          <p:nvPr/>
        </p:nvSpPr>
        <p:spPr>
          <a:xfrm>
            <a:off x="274320" y="2450592"/>
            <a:ext cx="3017520" cy="685800"/>
          </a:xfrm>
          <a:prstGeom prst="rect">
            <a:avLst/>
          </a:prstGeom>
          <a:noFill/>
          <a:ln/>
        </p:spPr>
        <p:txBody>
          <a:bodyPr wrap="square" lIns="0" tIns="0" rIns="0" bIns="0" rtlCol="0" anchor="ctr"/>
          <a:lstStyle/>
          <a:p>
            <a:pPr marL="0" indent="0">
              <a:buNone/>
            </a:pPr>
            <a:r>
              <a:rPr lang="en-US" sz="1600" dirty="0">
                <a:solidFill>
                  <a:srgbClr val="E8F4FB"/>
                </a:solidFill>
                <a:latin typeface="Calibri" pitchFamily="34" charset="0"/>
                <a:ea typeface="Calibri" pitchFamily="34" charset="-122"/>
                <a:cs typeface="Calibri" pitchFamily="34" charset="-120"/>
              </a:rPr>
              <a:t>Your AI-Powered</a:t>
            </a:r>
            <a:endParaRPr lang="en-US" sz="1600" dirty="0"/>
          </a:p>
          <a:p>
            <a:pPr marL="0" indent="0">
              <a:buNone/>
            </a:pPr>
            <a:r>
              <a:rPr lang="en-US" sz="1600" dirty="0">
                <a:solidFill>
                  <a:srgbClr val="E8F4FB"/>
                </a:solidFill>
                <a:latin typeface="Calibri" pitchFamily="34" charset="0"/>
                <a:ea typeface="Calibri" pitchFamily="34" charset="-122"/>
                <a:cs typeface="Calibri" pitchFamily="34" charset="-120"/>
              </a:rPr>
              <a:t>Second Brain</a:t>
            </a:r>
            <a:endParaRPr lang="en-US" sz="1600" dirty="0"/>
          </a:p>
        </p:txBody>
      </p:sp>
      <p:sp>
        <p:nvSpPr>
          <p:cNvPr id="8" name="Text 5"/>
          <p:cNvSpPr/>
          <p:nvPr/>
        </p:nvSpPr>
        <p:spPr>
          <a:xfrm>
            <a:off x="274320" y="3246120"/>
            <a:ext cx="3017520" cy="320040"/>
          </a:xfrm>
          <a:prstGeom prst="rect">
            <a:avLst/>
          </a:prstGeom>
          <a:noFill/>
          <a:ln/>
        </p:spPr>
        <p:txBody>
          <a:bodyPr wrap="square" lIns="0" tIns="0" rIns="0" bIns="0" rtlCol="0" anchor="ctr"/>
          <a:lstStyle/>
          <a:p>
            <a:pPr marL="0" indent="0">
              <a:buNone/>
            </a:pPr>
            <a:r>
              <a:rPr lang="en-US" sz="1100" i="1" dirty="0">
                <a:solidFill>
                  <a:srgbClr val="D0E9F7"/>
                </a:solidFill>
              </a:rPr>
              <a:t>Think it. Capture it. Recall it.</a:t>
            </a:r>
            <a:endParaRPr lang="en-US" sz="1100" dirty="0"/>
          </a:p>
        </p:txBody>
      </p:sp>
      <p:sp>
        <p:nvSpPr>
          <p:cNvPr id="9" name="Shape 6"/>
          <p:cNvSpPr/>
          <p:nvPr/>
        </p:nvSpPr>
        <p:spPr>
          <a:xfrm>
            <a:off x="3703320" y="201168"/>
            <a:ext cx="1600200" cy="1810512"/>
          </a:xfrm>
          <a:prstGeom prst="rect">
            <a:avLst/>
          </a:prstGeom>
          <a:solidFill>
            <a:srgbClr val="E8F4FB"/>
          </a:solidFill>
          <a:ln w="6350">
            <a:solidFill>
              <a:srgbClr val="D0E9F7"/>
            </a:solidFill>
            <a:prstDash val="solid"/>
          </a:ln>
        </p:spPr>
        <p:txBody>
          <a:bodyPr/>
          <a:lstStyle/>
          <a:p>
            <a:endParaRPr lang="en-IN"/>
          </a:p>
        </p:txBody>
      </p:sp>
      <p:sp>
        <p:nvSpPr>
          <p:cNvPr id="10" name="Shape 7"/>
          <p:cNvSpPr/>
          <p:nvPr/>
        </p:nvSpPr>
        <p:spPr>
          <a:xfrm>
            <a:off x="3703320" y="201168"/>
            <a:ext cx="1600200" cy="64008"/>
          </a:xfrm>
          <a:prstGeom prst="rect">
            <a:avLst/>
          </a:prstGeom>
          <a:solidFill>
            <a:srgbClr val="6BAED6"/>
          </a:solidFill>
          <a:ln w="12700">
            <a:solidFill>
              <a:srgbClr val="6BAED6"/>
            </a:solidFill>
            <a:prstDash val="solid"/>
          </a:ln>
        </p:spPr>
        <p:txBody>
          <a:bodyPr/>
          <a:lstStyle/>
          <a:p>
            <a:endParaRPr lang="en-IN"/>
          </a:p>
        </p:txBody>
      </p:sp>
      <p:sp>
        <p:nvSpPr>
          <p:cNvPr id="11" name="Shape 8"/>
          <p:cNvSpPr/>
          <p:nvPr/>
        </p:nvSpPr>
        <p:spPr>
          <a:xfrm>
            <a:off x="4247388" y="347472"/>
            <a:ext cx="512064" cy="512064"/>
          </a:xfrm>
          <a:prstGeom prst="ellipse">
            <a:avLst/>
          </a:prstGeom>
          <a:solidFill>
            <a:srgbClr val="6BAED6"/>
          </a:solidFill>
          <a:ln w="12700">
            <a:solidFill>
              <a:srgbClr val="6BAED6"/>
            </a:solidFill>
            <a:prstDash val="solid"/>
          </a:ln>
        </p:spPr>
        <p:txBody>
          <a:bodyPr/>
          <a:lstStyle/>
          <a:p>
            <a:endParaRPr lang="en-IN"/>
          </a:p>
        </p:txBody>
      </p:sp>
      <p:pic>
        <p:nvPicPr>
          <p:cNvPr id="12" name="Image 1" descr="preencoded.png"/>
          <p:cNvPicPr>
            <a:picLocks noChangeAspect="1"/>
          </p:cNvPicPr>
          <p:nvPr/>
        </p:nvPicPr>
        <p:blipFill>
          <a:blip r:embed="rId4"/>
          <a:stretch>
            <a:fillRect/>
          </a:stretch>
        </p:blipFill>
        <p:spPr>
          <a:xfrm>
            <a:off x="4311396" y="406908"/>
            <a:ext cx="384048" cy="384048"/>
          </a:xfrm>
          <a:prstGeom prst="rect">
            <a:avLst/>
          </a:prstGeom>
        </p:spPr>
      </p:pic>
      <p:sp>
        <p:nvSpPr>
          <p:cNvPr id="13" name="Text 9"/>
          <p:cNvSpPr/>
          <p:nvPr/>
        </p:nvSpPr>
        <p:spPr>
          <a:xfrm>
            <a:off x="3703320" y="932688"/>
            <a:ext cx="1600200" cy="310896"/>
          </a:xfrm>
          <a:prstGeom prst="rect">
            <a:avLst/>
          </a:prstGeom>
          <a:noFill/>
          <a:ln/>
        </p:spPr>
        <p:txBody>
          <a:bodyPr wrap="square" lIns="0" tIns="0" rIns="0" bIns="0" rtlCol="0" anchor="ctr"/>
          <a:lstStyle/>
          <a:p>
            <a:pPr marL="0" indent="0" algn="ctr">
              <a:buNone/>
            </a:pPr>
            <a:r>
              <a:rPr lang="en-US" sz="1400" b="1" dirty="0">
                <a:solidFill>
                  <a:srgbClr val="1A3A52"/>
                </a:solidFill>
                <a:latin typeface="Georgia" pitchFamily="34" charset="0"/>
                <a:ea typeface="Georgia" pitchFamily="34" charset="-122"/>
                <a:cs typeface="Georgia" pitchFamily="34" charset="-120"/>
              </a:rPr>
              <a:t>Text</a:t>
            </a:r>
            <a:endParaRPr lang="en-US" sz="1400" dirty="0"/>
          </a:p>
        </p:txBody>
      </p:sp>
      <p:sp>
        <p:nvSpPr>
          <p:cNvPr id="14" name="Text 10"/>
          <p:cNvSpPr/>
          <p:nvPr/>
        </p:nvSpPr>
        <p:spPr>
          <a:xfrm>
            <a:off x="3794760" y="1280160"/>
            <a:ext cx="1417320" cy="658368"/>
          </a:xfrm>
          <a:prstGeom prst="rect">
            <a:avLst/>
          </a:prstGeom>
          <a:noFill/>
          <a:ln/>
        </p:spPr>
        <p:txBody>
          <a:bodyPr wrap="square" lIns="0" tIns="0" rIns="0" bIns="0" rtlCol="0" anchor="ctr"/>
          <a:lstStyle/>
          <a:p>
            <a:pPr marL="0" indent="0" algn="ctr">
              <a:buNone/>
            </a:pPr>
            <a:r>
              <a:rPr lang="en-US" sz="850" dirty="0">
                <a:solidFill>
                  <a:srgbClr val="3A6E94"/>
                </a:solidFill>
              </a:rPr>
              <a:t>Type thoughts, ideas &amp; notes. Auto-tagged with emotion &amp; keywords by Groq AI.</a:t>
            </a:r>
            <a:endParaRPr lang="en-US" sz="850" dirty="0"/>
          </a:p>
        </p:txBody>
      </p:sp>
      <p:sp>
        <p:nvSpPr>
          <p:cNvPr id="15" name="Shape 11"/>
          <p:cNvSpPr/>
          <p:nvPr/>
        </p:nvSpPr>
        <p:spPr>
          <a:xfrm>
            <a:off x="5532120" y="201168"/>
            <a:ext cx="1600200" cy="1810512"/>
          </a:xfrm>
          <a:prstGeom prst="rect">
            <a:avLst/>
          </a:prstGeom>
          <a:solidFill>
            <a:srgbClr val="E8F4FB"/>
          </a:solidFill>
          <a:ln w="6350">
            <a:solidFill>
              <a:srgbClr val="D0E9F7"/>
            </a:solidFill>
            <a:prstDash val="solid"/>
          </a:ln>
        </p:spPr>
        <p:txBody>
          <a:bodyPr/>
          <a:lstStyle/>
          <a:p>
            <a:endParaRPr lang="en-IN"/>
          </a:p>
        </p:txBody>
      </p:sp>
      <p:sp>
        <p:nvSpPr>
          <p:cNvPr id="16" name="Shape 12"/>
          <p:cNvSpPr/>
          <p:nvPr/>
        </p:nvSpPr>
        <p:spPr>
          <a:xfrm>
            <a:off x="5532120" y="201168"/>
            <a:ext cx="1600200" cy="64008"/>
          </a:xfrm>
          <a:prstGeom prst="rect">
            <a:avLst/>
          </a:prstGeom>
          <a:solidFill>
            <a:srgbClr val="6BAED6"/>
          </a:solidFill>
          <a:ln w="12700">
            <a:solidFill>
              <a:srgbClr val="6BAED6"/>
            </a:solidFill>
            <a:prstDash val="solid"/>
          </a:ln>
        </p:spPr>
        <p:txBody>
          <a:bodyPr/>
          <a:lstStyle/>
          <a:p>
            <a:endParaRPr lang="en-IN"/>
          </a:p>
        </p:txBody>
      </p:sp>
      <p:sp>
        <p:nvSpPr>
          <p:cNvPr id="17" name="Shape 13"/>
          <p:cNvSpPr/>
          <p:nvPr/>
        </p:nvSpPr>
        <p:spPr>
          <a:xfrm>
            <a:off x="6076188" y="347472"/>
            <a:ext cx="512064" cy="512064"/>
          </a:xfrm>
          <a:prstGeom prst="ellipse">
            <a:avLst/>
          </a:prstGeom>
          <a:solidFill>
            <a:srgbClr val="6BAED6"/>
          </a:solidFill>
          <a:ln w="12700">
            <a:solidFill>
              <a:srgbClr val="6BAED6"/>
            </a:solidFill>
            <a:prstDash val="solid"/>
          </a:ln>
        </p:spPr>
        <p:txBody>
          <a:bodyPr/>
          <a:lstStyle/>
          <a:p>
            <a:endParaRPr lang="en-IN"/>
          </a:p>
        </p:txBody>
      </p:sp>
      <p:pic>
        <p:nvPicPr>
          <p:cNvPr id="18" name="Image 2" descr="preencoded.png"/>
          <p:cNvPicPr>
            <a:picLocks noChangeAspect="1"/>
          </p:cNvPicPr>
          <p:nvPr/>
        </p:nvPicPr>
        <p:blipFill>
          <a:blip r:embed="rId5"/>
          <a:stretch>
            <a:fillRect/>
          </a:stretch>
        </p:blipFill>
        <p:spPr>
          <a:xfrm>
            <a:off x="6140196" y="406908"/>
            <a:ext cx="384048" cy="384048"/>
          </a:xfrm>
          <a:prstGeom prst="rect">
            <a:avLst/>
          </a:prstGeom>
        </p:spPr>
      </p:pic>
      <p:sp>
        <p:nvSpPr>
          <p:cNvPr id="19" name="Text 14"/>
          <p:cNvSpPr/>
          <p:nvPr/>
        </p:nvSpPr>
        <p:spPr>
          <a:xfrm>
            <a:off x="5532120" y="932688"/>
            <a:ext cx="1600200" cy="310896"/>
          </a:xfrm>
          <a:prstGeom prst="rect">
            <a:avLst/>
          </a:prstGeom>
          <a:noFill/>
          <a:ln/>
        </p:spPr>
        <p:txBody>
          <a:bodyPr wrap="square" lIns="0" tIns="0" rIns="0" bIns="0" rtlCol="0" anchor="ctr"/>
          <a:lstStyle/>
          <a:p>
            <a:pPr marL="0" indent="0" algn="ctr">
              <a:buNone/>
            </a:pPr>
            <a:r>
              <a:rPr lang="en-US" sz="1400" b="1" dirty="0">
                <a:solidFill>
                  <a:srgbClr val="1A3A52"/>
                </a:solidFill>
                <a:latin typeface="Georgia" pitchFamily="34" charset="0"/>
                <a:ea typeface="Georgia" pitchFamily="34" charset="-122"/>
                <a:cs typeface="Georgia" pitchFamily="34" charset="-120"/>
              </a:rPr>
              <a:t>Voice</a:t>
            </a:r>
            <a:endParaRPr lang="en-US" sz="1400" dirty="0"/>
          </a:p>
        </p:txBody>
      </p:sp>
      <p:sp>
        <p:nvSpPr>
          <p:cNvPr id="20" name="Text 15"/>
          <p:cNvSpPr/>
          <p:nvPr/>
        </p:nvSpPr>
        <p:spPr>
          <a:xfrm>
            <a:off x="5623560" y="1280160"/>
            <a:ext cx="1417320" cy="658368"/>
          </a:xfrm>
          <a:prstGeom prst="rect">
            <a:avLst/>
          </a:prstGeom>
          <a:noFill/>
          <a:ln/>
        </p:spPr>
        <p:txBody>
          <a:bodyPr wrap="square" lIns="0" tIns="0" rIns="0" bIns="0" rtlCol="0" anchor="ctr"/>
          <a:lstStyle/>
          <a:p>
            <a:pPr marL="0" indent="0" algn="ctr">
              <a:buNone/>
            </a:pPr>
            <a:r>
              <a:rPr lang="en-US" sz="850" dirty="0">
                <a:solidFill>
                  <a:srgbClr val="3A6E94"/>
                </a:solidFill>
              </a:rPr>
              <a:t>Record audio. ffmpeg extracts WAV. Groq Whisper transcribes to searchable text.</a:t>
            </a:r>
            <a:endParaRPr lang="en-US" sz="850" dirty="0"/>
          </a:p>
        </p:txBody>
      </p:sp>
      <p:sp>
        <p:nvSpPr>
          <p:cNvPr id="21" name="Shape 16"/>
          <p:cNvSpPr/>
          <p:nvPr/>
        </p:nvSpPr>
        <p:spPr>
          <a:xfrm>
            <a:off x="7360920" y="201168"/>
            <a:ext cx="1600200" cy="1810512"/>
          </a:xfrm>
          <a:prstGeom prst="rect">
            <a:avLst/>
          </a:prstGeom>
          <a:solidFill>
            <a:srgbClr val="E8F4FB"/>
          </a:solidFill>
          <a:ln w="6350">
            <a:solidFill>
              <a:srgbClr val="D0E9F7"/>
            </a:solidFill>
            <a:prstDash val="solid"/>
          </a:ln>
        </p:spPr>
        <p:txBody>
          <a:bodyPr/>
          <a:lstStyle/>
          <a:p>
            <a:endParaRPr lang="en-IN"/>
          </a:p>
        </p:txBody>
      </p:sp>
      <p:sp>
        <p:nvSpPr>
          <p:cNvPr id="22" name="Shape 17"/>
          <p:cNvSpPr/>
          <p:nvPr/>
        </p:nvSpPr>
        <p:spPr>
          <a:xfrm>
            <a:off x="7360920" y="201168"/>
            <a:ext cx="1600200" cy="64008"/>
          </a:xfrm>
          <a:prstGeom prst="rect">
            <a:avLst/>
          </a:prstGeom>
          <a:solidFill>
            <a:srgbClr val="6BAED6"/>
          </a:solidFill>
          <a:ln w="12700">
            <a:solidFill>
              <a:srgbClr val="6BAED6"/>
            </a:solidFill>
            <a:prstDash val="solid"/>
          </a:ln>
        </p:spPr>
        <p:txBody>
          <a:bodyPr/>
          <a:lstStyle/>
          <a:p>
            <a:endParaRPr lang="en-IN"/>
          </a:p>
        </p:txBody>
      </p:sp>
      <p:sp>
        <p:nvSpPr>
          <p:cNvPr id="23" name="Shape 18"/>
          <p:cNvSpPr/>
          <p:nvPr/>
        </p:nvSpPr>
        <p:spPr>
          <a:xfrm>
            <a:off x="7904988" y="347472"/>
            <a:ext cx="512064" cy="512064"/>
          </a:xfrm>
          <a:prstGeom prst="ellipse">
            <a:avLst/>
          </a:prstGeom>
          <a:solidFill>
            <a:srgbClr val="6BAED6"/>
          </a:solidFill>
          <a:ln w="12700">
            <a:solidFill>
              <a:srgbClr val="6BAED6"/>
            </a:solidFill>
            <a:prstDash val="solid"/>
          </a:ln>
        </p:spPr>
        <p:txBody>
          <a:bodyPr/>
          <a:lstStyle/>
          <a:p>
            <a:endParaRPr lang="en-IN"/>
          </a:p>
        </p:txBody>
      </p:sp>
      <p:pic>
        <p:nvPicPr>
          <p:cNvPr id="24" name="Image 3" descr="preencoded.png"/>
          <p:cNvPicPr>
            <a:picLocks noChangeAspect="1"/>
          </p:cNvPicPr>
          <p:nvPr/>
        </p:nvPicPr>
        <p:blipFill>
          <a:blip r:embed="rId6"/>
          <a:stretch>
            <a:fillRect/>
          </a:stretch>
        </p:blipFill>
        <p:spPr>
          <a:xfrm>
            <a:off x="7968996" y="406908"/>
            <a:ext cx="384048" cy="384048"/>
          </a:xfrm>
          <a:prstGeom prst="rect">
            <a:avLst/>
          </a:prstGeom>
        </p:spPr>
      </p:pic>
      <p:sp>
        <p:nvSpPr>
          <p:cNvPr id="25" name="Text 19"/>
          <p:cNvSpPr/>
          <p:nvPr/>
        </p:nvSpPr>
        <p:spPr>
          <a:xfrm>
            <a:off x="7360920" y="932688"/>
            <a:ext cx="1600200" cy="310896"/>
          </a:xfrm>
          <a:prstGeom prst="rect">
            <a:avLst/>
          </a:prstGeom>
          <a:noFill/>
          <a:ln/>
        </p:spPr>
        <p:txBody>
          <a:bodyPr wrap="square" lIns="0" tIns="0" rIns="0" bIns="0" rtlCol="0" anchor="ctr"/>
          <a:lstStyle/>
          <a:p>
            <a:pPr marL="0" indent="0" algn="ctr">
              <a:buNone/>
            </a:pPr>
            <a:r>
              <a:rPr lang="en-US" sz="1400" b="1" dirty="0">
                <a:solidFill>
                  <a:srgbClr val="1A3A52"/>
                </a:solidFill>
                <a:latin typeface="Georgia" pitchFamily="34" charset="0"/>
                <a:ea typeface="Georgia" pitchFamily="34" charset="-122"/>
                <a:cs typeface="Georgia" pitchFamily="34" charset="-120"/>
              </a:rPr>
              <a:t>Video</a:t>
            </a:r>
            <a:endParaRPr lang="en-US" sz="1400" dirty="0"/>
          </a:p>
        </p:txBody>
      </p:sp>
      <p:sp>
        <p:nvSpPr>
          <p:cNvPr id="26" name="Text 20"/>
          <p:cNvSpPr/>
          <p:nvPr/>
        </p:nvSpPr>
        <p:spPr>
          <a:xfrm>
            <a:off x="7452360" y="1280160"/>
            <a:ext cx="1417320" cy="658368"/>
          </a:xfrm>
          <a:prstGeom prst="rect">
            <a:avLst/>
          </a:prstGeom>
          <a:noFill/>
          <a:ln/>
        </p:spPr>
        <p:txBody>
          <a:bodyPr wrap="square" lIns="0" tIns="0" rIns="0" bIns="0" rtlCol="0" anchor="ctr"/>
          <a:lstStyle/>
          <a:p>
            <a:pPr marL="0" indent="0" algn="ctr">
              <a:buNone/>
            </a:pPr>
            <a:r>
              <a:rPr lang="en-US" sz="850" dirty="0">
                <a:solidFill>
                  <a:srgbClr val="3A6E94"/>
                </a:solidFill>
              </a:rPr>
              <a:t>Record video thoughts. Saved to disk, transcribed &amp; indexed for AI recall.</a:t>
            </a:r>
            <a:endParaRPr lang="en-US" sz="850" dirty="0"/>
          </a:p>
        </p:txBody>
      </p:sp>
      <p:sp>
        <p:nvSpPr>
          <p:cNvPr id="27" name="Shape 21"/>
          <p:cNvSpPr/>
          <p:nvPr/>
        </p:nvSpPr>
        <p:spPr>
          <a:xfrm>
            <a:off x="3630168" y="2240280"/>
            <a:ext cx="5212080" cy="1572768"/>
          </a:xfrm>
          <a:prstGeom prst="rect">
            <a:avLst/>
          </a:prstGeom>
          <a:solidFill>
            <a:srgbClr val="E8F4FB"/>
          </a:solidFill>
          <a:ln w="6350">
            <a:solidFill>
              <a:srgbClr val="D0E9F7"/>
            </a:solidFill>
            <a:prstDash val="solid"/>
          </a:ln>
        </p:spPr>
        <p:txBody>
          <a:bodyPr/>
          <a:lstStyle/>
          <a:p>
            <a:endParaRPr lang="en-IN"/>
          </a:p>
        </p:txBody>
      </p:sp>
      <p:sp>
        <p:nvSpPr>
          <p:cNvPr id="28" name="Shape 22"/>
          <p:cNvSpPr/>
          <p:nvPr/>
        </p:nvSpPr>
        <p:spPr>
          <a:xfrm>
            <a:off x="3639312" y="2215134"/>
            <a:ext cx="5212080" cy="64008"/>
          </a:xfrm>
          <a:prstGeom prst="rect">
            <a:avLst/>
          </a:prstGeom>
          <a:solidFill>
            <a:srgbClr val="6BAED6"/>
          </a:solidFill>
          <a:ln w="12700">
            <a:solidFill>
              <a:srgbClr val="6BAED6"/>
            </a:solidFill>
            <a:prstDash val="solid"/>
          </a:ln>
        </p:spPr>
        <p:txBody>
          <a:bodyPr/>
          <a:lstStyle/>
          <a:p>
            <a:endParaRPr lang="en-IN"/>
          </a:p>
        </p:txBody>
      </p:sp>
      <p:sp>
        <p:nvSpPr>
          <p:cNvPr id="29" name="Text 23"/>
          <p:cNvSpPr/>
          <p:nvPr/>
        </p:nvSpPr>
        <p:spPr>
          <a:xfrm>
            <a:off x="3825565" y="2419731"/>
            <a:ext cx="4846320" cy="329184"/>
          </a:xfrm>
          <a:prstGeom prst="rect">
            <a:avLst/>
          </a:prstGeom>
          <a:noFill/>
          <a:ln/>
        </p:spPr>
        <p:txBody>
          <a:bodyPr wrap="square" lIns="0" tIns="0" rIns="0" bIns="0" rtlCol="0" anchor="ctr"/>
          <a:lstStyle/>
          <a:p>
            <a:pPr marL="0" indent="0">
              <a:buNone/>
            </a:pPr>
            <a:r>
              <a:rPr lang="en-US" sz="1400" b="1" dirty="0">
                <a:solidFill>
                  <a:srgbClr val="1A3A52"/>
                </a:solidFill>
                <a:latin typeface="Georgia" pitchFamily="34" charset="0"/>
                <a:ea typeface="Georgia" pitchFamily="34" charset="-122"/>
                <a:cs typeface="Georgia" pitchFamily="34" charset="-120"/>
              </a:rPr>
              <a:t>What is EchoMind?</a:t>
            </a:r>
            <a:endParaRPr lang="en-US" sz="1400" dirty="0"/>
          </a:p>
        </p:txBody>
      </p:sp>
      <p:sp>
        <p:nvSpPr>
          <p:cNvPr id="30" name="Text 24"/>
          <p:cNvSpPr/>
          <p:nvPr/>
        </p:nvSpPr>
        <p:spPr>
          <a:xfrm>
            <a:off x="3840480" y="2670048"/>
            <a:ext cx="4846320" cy="914400"/>
          </a:xfrm>
          <a:prstGeom prst="rect">
            <a:avLst/>
          </a:prstGeom>
          <a:noFill/>
          <a:ln/>
        </p:spPr>
        <p:txBody>
          <a:bodyPr wrap="square" lIns="0" tIns="0" rIns="0" bIns="0" rtlCol="0" anchor="ctr"/>
          <a:lstStyle/>
          <a:p>
            <a:pPr marL="0" indent="0">
              <a:buNone/>
            </a:pPr>
            <a:r>
              <a:rPr lang="en-US" sz="1050" dirty="0">
                <a:solidFill>
                  <a:srgbClr val="3A6E94"/>
                </a:solidFill>
              </a:rPr>
              <a:t>EchoMind is a FastAPI-powered personal and collaborative AI second brain. Capture thoughts via text, voice or video. Ask questions and get answers grounded in your own stored knowledge using Groq Llama 3.3 and ChromaDB semantic search.</a:t>
            </a:r>
            <a:endParaRPr lang="en-US" sz="1050" dirty="0"/>
          </a:p>
        </p:txBody>
      </p:sp>
      <p:sp>
        <p:nvSpPr>
          <p:cNvPr id="31" name="Shape 25"/>
          <p:cNvSpPr/>
          <p:nvPr/>
        </p:nvSpPr>
        <p:spPr>
          <a:xfrm>
            <a:off x="3703320" y="4160520"/>
            <a:ext cx="969264" cy="329184"/>
          </a:xfrm>
          <a:prstGeom prst="rect">
            <a:avLst/>
          </a:prstGeom>
          <a:solidFill>
            <a:srgbClr val="6BAED6"/>
          </a:solidFill>
          <a:ln w="12700">
            <a:solidFill>
              <a:srgbClr val="6BAED6"/>
            </a:solidFill>
            <a:prstDash val="solid"/>
          </a:ln>
        </p:spPr>
        <p:txBody>
          <a:bodyPr/>
          <a:lstStyle/>
          <a:p>
            <a:endParaRPr lang="en-IN"/>
          </a:p>
        </p:txBody>
      </p:sp>
      <p:sp>
        <p:nvSpPr>
          <p:cNvPr id="32" name="Text 26"/>
          <p:cNvSpPr/>
          <p:nvPr/>
        </p:nvSpPr>
        <p:spPr>
          <a:xfrm>
            <a:off x="3703320" y="4160520"/>
            <a:ext cx="969264" cy="329184"/>
          </a:xfrm>
          <a:prstGeom prst="rect">
            <a:avLst/>
          </a:prstGeom>
          <a:noFill/>
          <a:ln/>
        </p:spPr>
        <p:txBody>
          <a:bodyPr wrap="square" lIns="0" tIns="0" rIns="0" bIns="0" rtlCol="0" anchor="ctr"/>
          <a:lstStyle/>
          <a:p>
            <a:pPr marL="0" indent="0" algn="ctr">
              <a:buNone/>
            </a:pPr>
            <a:r>
              <a:rPr lang="en-US" sz="850" b="1" dirty="0">
                <a:solidFill>
                  <a:srgbClr val="FFFFFF"/>
                </a:solidFill>
              </a:rPr>
              <a:t>FastAPI</a:t>
            </a:r>
            <a:endParaRPr lang="en-US" sz="850" dirty="0"/>
          </a:p>
        </p:txBody>
      </p:sp>
      <p:sp>
        <p:nvSpPr>
          <p:cNvPr id="33" name="Shape 27"/>
          <p:cNvSpPr/>
          <p:nvPr/>
        </p:nvSpPr>
        <p:spPr>
          <a:xfrm>
            <a:off x="4745736" y="4160520"/>
            <a:ext cx="969264" cy="329184"/>
          </a:xfrm>
          <a:prstGeom prst="rect">
            <a:avLst/>
          </a:prstGeom>
          <a:solidFill>
            <a:srgbClr val="6BAED6"/>
          </a:solidFill>
          <a:ln w="12700">
            <a:solidFill>
              <a:srgbClr val="6BAED6"/>
            </a:solidFill>
            <a:prstDash val="solid"/>
          </a:ln>
        </p:spPr>
        <p:txBody>
          <a:bodyPr/>
          <a:lstStyle/>
          <a:p>
            <a:endParaRPr lang="en-IN"/>
          </a:p>
        </p:txBody>
      </p:sp>
      <p:sp>
        <p:nvSpPr>
          <p:cNvPr id="34" name="Text 28"/>
          <p:cNvSpPr/>
          <p:nvPr/>
        </p:nvSpPr>
        <p:spPr>
          <a:xfrm>
            <a:off x="4745736" y="4160520"/>
            <a:ext cx="969264" cy="329184"/>
          </a:xfrm>
          <a:prstGeom prst="rect">
            <a:avLst/>
          </a:prstGeom>
          <a:noFill/>
          <a:ln/>
        </p:spPr>
        <p:txBody>
          <a:bodyPr wrap="square" lIns="0" tIns="0" rIns="0" bIns="0" rtlCol="0" anchor="ctr"/>
          <a:lstStyle/>
          <a:p>
            <a:pPr marL="0" indent="0" algn="ctr">
              <a:buNone/>
            </a:pPr>
            <a:r>
              <a:rPr lang="en-US" sz="850" b="1" dirty="0">
                <a:solidFill>
                  <a:srgbClr val="FFFFFF"/>
                </a:solidFill>
              </a:rPr>
              <a:t>Groq Llama 3.3</a:t>
            </a:r>
            <a:endParaRPr lang="en-US" sz="850" dirty="0"/>
          </a:p>
        </p:txBody>
      </p:sp>
      <p:sp>
        <p:nvSpPr>
          <p:cNvPr id="35" name="Shape 29"/>
          <p:cNvSpPr/>
          <p:nvPr/>
        </p:nvSpPr>
        <p:spPr>
          <a:xfrm>
            <a:off x="5788152" y="4160520"/>
            <a:ext cx="969264" cy="329184"/>
          </a:xfrm>
          <a:prstGeom prst="rect">
            <a:avLst/>
          </a:prstGeom>
          <a:solidFill>
            <a:srgbClr val="6BAED6"/>
          </a:solidFill>
          <a:ln w="12700">
            <a:solidFill>
              <a:srgbClr val="6BAED6"/>
            </a:solidFill>
            <a:prstDash val="solid"/>
          </a:ln>
        </p:spPr>
        <p:txBody>
          <a:bodyPr/>
          <a:lstStyle/>
          <a:p>
            <a:endParaRPr lang="en-IN"/>
          </a:p>
        </p:txBody>
      </p:sp>
      <p:sp>
        <p:nvSpPr>
          <p:cNvPr id="36" name="Text 30"/>
          <p:cNvSpPr/>
          <p:nvPr/>
        </p:nvSpPr>
        <p:spPr>
          <a:xfrm>
            <a:off x="5788152" y="4160520"/>
            <a:ext cx="969264" cy="329184"/>
          </a:xfrm>
          <a:prstGeom prst="rect">
            <a:avLst/>
          </a:prstGeom>
          <a:noFill/>
          <a:ln/>
        </p:spPr>
        <p:txBody>
          <a:bodyPr wrap="square" lIns="0" tIns="0" rIns="0" bIns="0" rtlCol="0" anchor="ctr"/>
          <a:lstStyle/>
          <a:p>
            <a:pPr marL="0" indent="0" algn="ctr">
              <a:buNone/>
            </a:pPr>
            <a:r>
              <a:rPr lang="en-US" sz="850" b="1" dirty="0">
                <a:solidFill>
                  <a:srgbClr val="FFFFFF"/>
                </a:solidFill>
              </a:rPr>
              <a:t>ChromaDB</a:t>
            </a:r>
            <a:endParaRPr lang="en-US" sz="850" dirty="0"/>
          </a:p>
        </p:txBody>
      </p:sp>
      <p:sp>
        <p:nvSpPr>
          <p:cNvPr id="37" name="Shape 31"/>
          <p:cNvSpPr/>
          <p:nvPr/>
        </p:nvSpPr>
        <p:spPr>
          <a:xfrm>
            <a:off x="6830568" y="4160520"/>
            <a:ext cx="969264" cy="329184"/>
          </a:xfrm>
          <a:prstGeom prst="rect">
            <a:avLst/>
          </a:prstGeom>
          <a:solidFill>
            <a:srgbClr val="6BAED6"/>
          </a:solidFill>
          <a:ln w="12700">
            <a:solidFill>
              <a:srgbClr val="6BAED6"/>
            </a:solidFill>
            <a:prstDash val="solid"/>
          </a:ln>
        </p:spPr>
        <p:txBody>
          <a:bodyPr/>
          <a:lstStyle/>
          <a:p>
            <a:endParaRPr lang="en-IN"/>
          </a:p>
        </p:txBody>
      </p:sp>
      <p:sp>
        <p:nvSpPr>
          <p:cNvPr id="38" name="Text 32"/>
          <p:cNvSpPr/>
          <p:nvPr/>
        </p:nvSpPr>
        <p:spPr>
          <a:xfrm>
            <a:off x="6830568" y="4160520"/>
            <a:ext cx="969264" cy="329184"/>
          </a:xfrm>
          <a:prstGeom prst="rect">
            <a:avLst/>
          </a:prstGeom>
          <a:noFill/>
          <a:ln/>
        </p:spPr>
        <p:txBody>
          <a:bodyPr wrap="square" lIns="0" tIns="0" rIns="0" bIns="0" rtlCol="0" anchor="ctr"/>
          <a:lstStyle/>
          <a:p>
            <a:pPr marL="0" indent="0" algn="ctr">
              <a:buNone/>
            </a:pPr>
            <a:r>
              <a:rPr lang="en-US" sz="850" b="1" dirty="0">
                <a:solidFill>
                  <a:srgbClr val="FFFFFF"/>
                </a:solidFill>
              </a:rPr>
              <a:t>Whisper</a:t>
            </a:r>
            <a:endParaRPr lang="en-US" sz="850" dirty="0"/>
          </a:p>
        </p:txBody>
      </p:sp>
      <p:sp>
        <p:nvSpPr>
          <p:cNvPr id="39" name="Shape 33"/>
          <p:cNvSpPr/>
          <p:nvPr/>
        </p:nvSpPr>
        <p:spPr>
          <a:xfrm>
            <a:off x="7872984" y="4160520"/>
            <a:ext cx="969264" cy="329184"/>
          </a:xfrm>
          <a:prstGeom prst="rect">
            <a:avLst/>
          </a:prstGeom>
          <a:solidFill>
            <a:srgbClr val="6BAED6"/>
          </a:solidFill>
          <a:ln w="12700">
            <a:solidFill>
              <a:srgbClr val="6BAED6"/>
            </a:solidFill>
            <a:prstDash val="solid"/>
          </a:ln>
        </p:spPr>
        <p:txBody>
          <a:bodyPr/>
          <a:lstStyle/>
          <a:p>
            <a:endParaRPr lang="en-IN"/>
          </a:p>
        </p:txBody>
      </p:sp>
      <p:sp>
        <p:nvSpPr>
          <p:cNvPr id="40" name="Text 34"/>
          <p:cNvSpPr/>
          <p:nvPr/>
        </p:nvSpPr>
        <p:spPr>
          <a:xfrm>
            <a:off x="7872984" y="4160520"/>
            <a:ext cx="969264" cy="329184"/>
          </a:xfrm>
          <a:prstGeom prst="rect">
            <a:avLst/>
          </a:prstGeom>
          <a:noFill/>
          <a:ln/>
        </p:spPr>
        <p:txBody>
          <a:bodyPr wrap="square" lIns="0" tIns="0" rIns="0" bIns="0" rtlCol="0" anchor="ctr"/>
          <a:lstStyle/>
          <a:p>
            <a:pPr marL="0" indent="0" algn="ctr">
              <a:buNone/>
            </a:pPr>
            <a:r>
              <a:rPr lang="en-US" sz="850" b="1" dirty="0">
                <a:solidFill>
                  <a:srgbClr val="FFFFFF"/>
                </a:solidFill>
              </a:rPr>
              <a:t>SQLite</a:t>
            </a:r>
            <a:endParaRPr lang="en-US" sz="850" dirty="0"/>
          </a:p>
        </p:txBody>
      </p:sp>
      <p:sp>
        <p:nvSpPr>
          <p:cNvPr id="41" name="Shape 35"/>
          <p:cNvSpPr/>
          <p:nvPr/>
        </p:nvSpPr>
        <p:spPr>
          <a:xfrm>
            <a:off x="0" y="4773168"/>
            <a:ext cx="9144000" cy="370332"/>
          </a:xfrm>
          <a:prstGeom prst="rect">
            <a:avLst/>
          </a:prstGeom>
          <a:solidFill>
            <a:srgbClr val="D0E9F7"/>
          </a:solidFill>
          <a:ln w="12700">
            <a:solidFill>
              <a:srgbClr val="D0E9F7"/>
            </a:solidFill>
            <a:prstDash val="solid"/>
          </a:ln>
        </p:spPr>
        <p:txBody>
          <a:bodyPr/>
          <a:lstStyle/>
          <a:p>
            <a:endParaRPr lang="en-IN"/>
          </a:p>
        </p:txBody>
      </p:sp>
      <p:sp>
        <p:nvSpPr>
          <p:cNvPr id="42" name="Text 36"/>
          <p:cNvSpPr/>
          <p:nvPr/>
        </p:nvSpPr>
        <p:spPr>
          <a:xfrm>
            <a:off x="0" y="4773168"/>
            <a:ext cx="9144000" cy="370332"/>
          </a:xfrm>
          <a:prstGeom prst="rect">
            <a:avLst/>
          </a:prstGeom>
          <a:noFill/>
          <a:ln/>
        </p:spPr>
        <p:txBody>
          <a:bodyPr wrap="square" lIns="0" tIns="0" rIns="0" bIns="0" rtlCol="0" anchor="ctr"/>
          <a:lstStyle/>
          <a:p>
            <a:pPr marL="0" indent="0" algn="ctr">
              <a:buNone/>
            </a:pPr>
            <a:r>
              <a:rPr lang="en-US" sz="950" dirty="0">
                <a:solidFill>
                  <a:srgbClr val="3A6E94"/>
                </a:solidFill>
              </a:rPr>
              <a:t>Personal AI Brain  ·  Collaborative Rooms  ·  Emotion Analytics  ·  Voice &amp; Video Capture</a:t>
            </a:r>
            <a:endParaRPr lang="en-US" sz="950" dirty="0"/>
          </a:p>
        </p:txBody>
      </p:sp>
      <p:sp>
        <p:nvSpPr>
          <p:cNvPr id="44" name="TextBox 43">
            <a:extLst>
              <a:ext uri="{FF2B5EF4-FFF2-40B4-BE49-F238E27FC236}">
                <a16:creationId xmlns:a16="http://schemas.microsoft.com/office/drawing/2014/main" id="{B0EBC3EC-CB90-239F-BE3C-8B9338914B0E}"/>
              </a:ext>
            </a:extLst>
          </p:cNvPr>
          <p:cNvSpPr txBox="1"/>
          <p:nvPr/>
        </p:nvSpPr>
        <p:spPr>
          <a:xfrm rot="10800000" flipV="1">
            <a:off x="1768167" y="4445205"/>
            <a:ext cx="1820853" cy="261610"/>
          </a:xfrm>
          <a:prstGeom prst="rect">
            <a:avLst/>
          </a:prstGeom>
          <a:noFill/>
        </p:spPr>
        <p:txBody>
          <a:bodyPr wrap="square" rtlCol="0">
            <a:spAutoFit/>
          </a:bodyPr>
          <a:lstStyle/>
          <a:p>
            <a:r>
              <a:rPr lang="en-US" sz="1100" dirty="0">
                <a:solidFill>
                  <a:schemeClr val="bg1"/>
                </a:solidFill>
              </a:rPr>
              <a:t>From: Sai Sravya </a:t>
            </a:r>
            <a:r>
              <a:rPr lang="en-US" sz="1100" dirty="0" err="1">
                <a:solidFill>
                  <a:schemeClr val="bg1"/>
                </a:solidFill>
              </a:rPr>
              <a:t>Manchi</a:t>
            </a:r>
            <a:endParaRPr lang="en-IN" sz="11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6BAED6"/>
          </a:solidFill>
          <a:ln w="12700">
            <a:solidFill>
              <a:srgbClr val="6BAED6"/>
            </a:solidFill>
            <a:prstDash val="solid"/>
          </a:ln>
        </p:spPr>
        <p:txBody>
          <a:bodyPr/>
          <a:lstStyle/>
          <a:p>
            <a:endParaRPr lang="en-IN"/>
          </a:p>
        </p:txBody>
      </p:sp>
      <p:sp>
        <p:nvSpPr>
          <p:cNvPr id="3" name="Text 1"/>
          <p:cNvSpPr/>
          <p:nvPr/>
        </p:nvSpPr>
        <p:spPr>
          <a:xfrm>
            <a:off x="274320" y="73152"/>
            <a:ext cx="685800" cy="768096"/>
          </a:xfrm>
          <a:prstGeom prst="rect">
            <a:avLst/>
          </a:prstGeom>
          <a:noFill/>
          <a:ln/>
        </p:spPr>
        <p:txBody>
          <a:bodyPr wrap="square" lIns="0" tIns="0" rIns="0" bIns="0" rtlCol="0" anchor="ctr"/>
          <a:lstStyle/>
          <a:p>
            <a:pPr marL="0" indent="0">
              <a:buNone/>
            </a:pPr>
            <a:endParaRPr lang="en-US" sz="3400" dirty="0"/>
          </a:p>
        </p:txBody>
      </p:sp>
      <p:sp>
        <p:nvSpPr>
          <p:cNvPr id="4" name="Text 2"/>
          <p:cNvSpPr/>
          <p:nvPr/>
        </p:nvSpPr>
        <p:spPr>
          <a:xfrm>
            <a:off x="274320" y="49767"/>
            <a:ext cx="7772400" cy="768096"/>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Key Features</a:t>
            </a:r>
            <a:endParaRPr lang="en-US" sz="2600" dirty="0"/>
          </a:p>
        </p:txBody>
      </p:sp>
      <p:sp>
        <p:nvSpPr>
          <p:cNvPr id="5" name="Shape 3"/>
          <p:cNvSpPr/>
          <p:nvPr/>
        </p:nvSpPr>
        <p:spPr>
          <a:xfrm>
            <a:off x="256032" y="1024128"/>
            <a:ext cx="2798064" cy="1719072"/>
          </a:xfrm>
          <a:prstGeom prst="rect">
            <a:avLst/>
          </a:prstGeom>
          <a:solidFill>
            <a:srgbClr val="E8F4FB"/>
          </a:solidFill>
          <a:ln w="6350">
            <a:solidFill>
              <a:srgbClr val="D0E9F7"/>
            </a:solidFill>
            <a:prstDash val="solid"/>
          </a:ln>
        </p:spPr>
        <p:txBody>
          <a:bodyPr/>
          <a:lstStyle/>
          <a:p>
            <a:endParaRPr lang="en-IN"/>
          </a:p>
        </p:txBody>
      </p:sp>
      <p:sp>
        <p:nvSpPr>
          <p:cNvPr id="6" name="Shape 4"/>
          <p:cNvSpPr/>
          <p:nvPr/>
        </p:nvSpPr>
        <p:spPr>
          <a:xfrm>
            <a:off x="256032" y="1024128"/>
            <a:ext cx="2798064" cy="73152"/>
          </a:xfrm>
          <a:prstGeom prst="rect">
            <a:avLst/>
          </a:prstGeom>
          <a:solidFill>
            <a:srgbClr val="6BAED6"/>
          </a:solidFill>
          <a:ln w="12700">
            <a:solidFill>
              <a:srgbClr val="6BAED6"/>
            </a:solidFill>
            <a:prstDash val="solid"/>
          </a:ln>
        </p:spPr>
        <p:txBody>
          <a:bodyPr/>
          <a:lstStyle/>
          <a:p>
            <a:endParaRPr lang="en-IN"/>
          </a:p>
        </p:txBody>
      </p:sp>
      <p:sp>
        <p:nvSpPr>
          <p:cNvPr id="7" name="Shape 5"/>
          <p:cNvSpPr/>
          <p:nvPr/>
        </p:nvSpPr>
        <p:spPr>
          <a:xfrm>
            <a:off x="2587752" y="1152144"/>
            <a:ext cx="347472" cy="347472"/>
          </a:xfrm>
          <a:prstGeom prst="ellipse">
            <a:avLst/>
          </a:prstGeom>
          <a:solidFill>
            <a:srgbClr val="6BAED6"/>
          </a:solidFill>
          <a:ln w="12700">
            <a:solidFill>
              <a:srgbClr val="6BAED6"/>
            </a:solidFill>
            <a:prstDash val="solid"/>
          </a:ln>
        </p:spPr>
        <p:txBody>
          <a:bodyPr/>
          <a:lstStyle/>
          <a:p>
            <a:endParaRPr lang="en-IN"/>
          </a:p>
        </p:txBody>
      </p:sp>
      <p:sp>
        <p:nvSpPr>
          <p:cNvPr id="8" name="Text 6"/>
          <p:cNvSpPr/>
          <p:nvPr/>
        </p:nvSpPr>
        <p:spPr>
          <a:xfrm>
            <a:off x="2587752" y="1152144"/>
            <a:ext cx="347472" cy="347472"/>
          </a:xfrm>
          <a:prstGeom prst="rect">
            <a:avLst/>
          </a:prstGeom>
          <a:noFill/>
          <a:ln/>
        </p:spPr>
        <p:txBody>
          <a:bodyPr wrap="square" lIns="0" tIns="0" rIns="0" bIns="0" rtlCol="0" anchor="ctr"/>
          <a:lstStyle/>
          <a:p>
            <a:pPr marL="0" indent="0" algn="ctr">
              <a:buNone/>
            </a:pPr>
            <a:r>
              <a:rPr lang="en-US" sz="900" b="1" dirty="0">
                <a:solidFill>
                  <a:srgbClr val="FFFFFF"/>
                </a:solidFill>
              </a:rPr>
              <a:t>01</a:t>
            </a:r>
            <a:endParaRPr lang="en-US" sz="900" dirty="0"/>
          </a:p>
        </p:txBody>
      </p:sp>
      <p:sp>
        <p:nvSpPr>
          <p:cNvPr id="9" name="Shape 7"/>
          <p:cNvSpPr/>
          <p:nvPr/>
        </p:nvSpPr>
        <p:spPr>
          <a:xfrm>
            <a:off x="393192" y="1188720"/>
            <a:ext cx="512064" cy="512064"/>
          </a:xfrm>
          <a:prstGeom prst="ellipse">
            <a:avLst/>
          </a:prstGeom>
          <a:solidFill>
            <a:srgbClr val="D0E9F7"/>
          </a:solidFill>
          <a:ln w="12700">
            <a:solidFill>
              <a:srgbClr val="D0E9F7"/>
            </a:solidFill>
            <a:prstDash val="solid"/>
          </a:ln>
        </p:spPr>
        <p:txBody>
          <a:bodyPr/>
          <a:lstStyle/>
          <a:p>
            <a:endParaRPr lang="en-IN"/>
          </a:p>
        </p:txBody>
      </p:sp>
      <p:pic>
        <p:nvPicPr>
          <p:cNvPr id="10" name="Image 0" descr="preencoded.png"/>
          <p:cNvPicPr>
            <a:picLocks noChangeAspect="1"/>
          </p:cNvPicPr>
          <p:nvPr/>
        </p:nvPicPr>
        <p:blipFill>
          <a:blip r:embed="rId3"/>
          <a:stretch>
            <a:fillRect/>
          </a:stretch>
        </p:blipFill>
        <p:spPr>
          <a:xfrm>
            <a:off x="457200" y="1252728"/>
            <a:ext cx="384048" cy="384048"/>
          </a:xfrm>
          <a:prstGeom prst="rect">
            <a:avLst/>
          </a:prstGeom>
        </p:spPr>
      </p:pic>
      <p:sp>
        <p:nvSpPr>
          <p:cNvPr id="11" name="Text 8"/>
          <p:cNvSpPr/>
          <p:nvPr/>
        </p:nvSpPr>
        <p:spPr>
          <a:xfrm>
            <a:off x="1024128" y="1188720"/>
            <a:ext cx="1901952" cy="347472"/>
          </a:xfrm>
          <a:prstGeom prst="rect">
            <a:avLst/>
          </a:prstGeom>
          <a:noFill/>
          <a:ln/>
        </p:spPr>
        <p:txBody>
          <a:bodyPr wrap="square" lIns="0" tIns="0" rIns="0" bIns="0" rtlCol="0" anchor="ctr"/>
          <a:lstStyle/>
          <a:p>
            <a:pPr marL="0" indent="0">
              <a:buNone/>
            </a:pPr>
            <a:r>
              <a:rPr lang="en-US" sz="1300" b="1" dirty="0">
                <a:solidFill>
                  <a:srgbClr val="1A3A52"/>
                </a:solidFill>
                <a:latin typeface="Georgia" pitchFamily="34" charset="0"/>
                <a:ea typeface="Georgia" pitchFamily="34" charset="-122"/>
                <a:cs typeface="Georgia" pitchFamily="34" charset="-120"/>
              </a:rPr>
              <a:t>Thought Capture</a:t>
            </a:r>
            <a:endParaRPr lang="en-US" sz="1300" dirty="0"/>
          </a:p>
        </p:txBody>
      </p:sp>
      <p:sp>
        <p:nvSpPr>
          <p:cNvPr id="12" name="Text 9"/>
          <p:cNvSpPr/>
          <p:nvPr/>
        </p:nvSpPr>
        <p:spPr>
          <a:xfrm>
            <a:off x="393192" y="1792224"/>
            <a:ext cx="2542032" cy="804672"/>
          </a:xfrm>
          <a:prstGeom prst="rect">
            <a:avLst/>
          </a:prstGeom>
          <a:noFill/>
          <a:ln/>
        </p:spPr>
        <p:txBody>
          <a:bodyPr wrap="square" lIns="0" tIns="0" rIns="0" bIns="0" rtlCol="0" anchor="ctr"/>
          <a:lstStyle/>
          <a:p>
            <a:pPr marL="0" indent="0">
              <a:buNone/>
            </a:pPr>
            <a:r>
              <a:rPr lang="en-US" sz="1000" dirty="0">
                <a:solidFill>
                  <a:srgbClr val="3A6E94"/>
                </a:solidFill>
              </a:rPr>
              <a:t>Text, voice &amp; video with auto emotion tagging via Groq</a:t>
            </a:r>
            <a:endParaRPr lang="en-US" sz="1000" dirty="0"/>
          </a:p>
        </p:txBody>
      </p:sp>
      <p:sp>
        <p:nvSpPr>
          <p:cNvPr id="13" name="Shape 10"/>
          <p:cNvSpPr/>
          <p:nvPr/>
        </p:nvSpPr>
        <p:spPr>
          <a:xfrm>
            <a:off x="3200400" y="1024128"/>
            <a:ext cx="2798064" cy="1719072"/>
          </a:xfrm>
          <a:prstGeom prst="rect">
            <a:avLst/>
          </a:prstGeom>
          <a:solidFill>
            <a:srgbClr val="E8F4FB"/>
          </a:solidFill>
          <a:ln w="6350">
            <a:solidFill>
              <a:srgbClr val="D0E9F7"/>
            </a:solidFill>
            <a:prstDash val="solid"/>
          </a:ln>
        </p:spPr>
        <p:txBody>
          <a:bodyPr/>
          <a:lstStyle/>
          <a:p>
            <a:endParaRPr lang="en-IN"/>
          </a:p>
        </p:txBody>
      </p:sp>
      <p:sp>
        <p:nvSpPr>
          <p:cNvPr id="14" name="Shape 11"/>
          <p:cNvSpPr/>
          <p:nvPr/>
        </p:nvSpPr>
        <p:spPr>
          <a:xfrm>
            <a:off x="3200400" y="1024128"/>
            <a:ext cx="2798064" cy="73152"/>
          </a:xfrm>
          <a:prstGeom prst="rect">
            <a:avLst/>
          </a:prstGeom>
          <a:solidFill>
            <a:srgbClr val="6BAED6"/>
          </a:solidFill>
          <a:ln w="12700">
            <a:solidFill>
              <a:srgbClr val="6BAED6"/>
            </a:solidFill>
            <a:prstDash val="solid"/>
          </a:ln>
        </p:spPr>
        <p:txBody>
          <a:bodyPr/>
          <a:lstStyle/>
          <a:p>
            <a:endParaRPr lang="en-IN"/>
          </a:p>
        </p:txBody>
      </p:sp>
      <p:sp>
        <p:nvSpPr>
          <p:cNvPr id="15" name="Shape 12"/>
          <p:cNvSpPr/>
          <p:nvPr/>
        </p:nvSpPr>
        <p:spPr>
          <a:xfrm>
            <a:off x="5532120" y="1152144"/>
            <a:ext cx="347472" cy="347472"/>
          </a:xfrm>
          <a:prstGeom prst="ellipse">
            <a:avLst/>
          </a:prstGeom>
          <a:solidFill>
            <a:srgbClr val="6BAED6"/>
          </a:solidFill>
          <a:ln w="12700">
            <a:solidFill>
              <a:srgbClr val="6BAED6"/>
            </a:solidFill>
            <a:prstDash val="solid"/>
          </a:ln>
        </p:spPr>
        <p:txBody>
          <a:bodyPr/>
          <a:lstStyle/>
          <a:p>
            <a:endParaRPr lang="en-IN"/>
          </a:p>
        </p:txBody>
      </p:sp>
      <p:sp>
        <p:nvSpPr>
          <p:cNvPr id="16" name="Text 13"/>
          <p:cNvSpPr/>
          <p:nvPr/>
        </p:nvSpPr>
        <p:spPr>
          <a:xfrm>
            <a:off x="5532120" y="1152144"/>
            <a:ext cx="347472" cy="347472"/>
          </a:xfrm>
          <a:prstGeom prst="rect">
            <a:avLst/>
          </a:prstGeom>
          <a:noFill/>
          <a:ln/>
        </p:spPr>
        <p:txBody>
          <a:bodyPr wrap="square" lIns="0" tIns="0" rIns="0" bIns="0" rtlCol="0" anchor="ctr"/>
          <a:lstStyle/>
          <a:p>
            <a:pPr marL="0" indent="0" algn="ctr">
              <a:buNone/>
            </a:pPr>
            <a:r>
              <a:rPr lang="en-US" sz="900" b="1" dirty="0">
                <a:solidFill>
                  <a:srgbClr val="FFFFFF"/>
                </a:solidFill>
              </a:rPr>
              <a:t>02</a:t>
            </a:r>
            <a:endParaRPr lang="en-US" sz="900" dirty="0"/>
          </a:p>
        </p:txBody>
      </p:sp>
      <p:sp>
        <p:nvSpPr>
          <p:cNvPr id="17" name="Shape 14"/>
          <p:cNvSpPr/>
          <p:nvPr/>
        </p:nvSpPr>
        <p:spPr>
          <a:xfrm>
            <a:off x="3337560" y="1188720"/>
            <a:ext cx="512064" cy="512064"/>
          </a:xfrm>
          <a:prstGeom prst="ellipse">
            <a:avLst/>
          </a:prstGeom>
          <a:solidFill>
            <a:srgbClr val="D0E9F7"/>
          </a:solidFill>
          <a:ln w="12700">
            <a:solidFill>
              <a:srgbClr val="D0E9F7"/>
            </a:solidFill>
            <a:prstDash val="solid"/>
          </a:ln>
        </p:spPr>
        <p:txBody>
          <a:bodyPr/>
          <a:lstStyle/>
          <a:p>
            <a:endParaRPr lang="en-IN"/>
          </a:p>
        </p:txBody>
      </p:sp>
      <p:pic>
        <p:nvPicPr>
          <p:cNvPr id="18" name="Image 1" descr="preencoded.png"/>
          <p:cNvPicPr>
            <a:picLocks noChangeAspect="1"/>
          </p:cNvPicPr>
          <p:nvPr/>
        </p:nvPicPr>
        <p:blipFill>
          <a:blip r:embed="rId4"/>
          <a:stretch>
            <a:fillRect/>
          </a:stretch>
        </p:blipFill>
        <p:spPr>
          <a:xfrm>
            <a:off x="3401568" y="1252728"/>
            <a:ext cx="384048" cy="384048"/>
          </a:xfrm>
          <a:prstGeom prst="rect">
            <a:avLst/>
          </a:prstGeom>
        </p:spPr>
      </p:pic>
      <p:sp>
        <p:nvSpPr>
          <p:cNvPr id="19" name="Text 15"/>
          <p:cNvSpPr/>
          <p:nvPr/>
        </p:nvSpPr>
        <p:spPr>
          <a:xfrm>
            <a:off x="3968496" y="1188720"/>
            <a:ext cx="1901952" cy="347472"/>
          </a:xfrm>
          <a:prstGeom prst="rect">
            <a:avLst/>
          </a:prstGeom>
          <a:noFill/>
          <a:ln/>
        </p:spPr>
        <p:txBody>
          <a:bodyPr wrap="square" lIns="0" tIns="0" rIns="0" bIns="0" rtlCol="0" anchor="ctr"/>
          <a:lstStyle/>
          <a:p>
            <a:pPr marL="0" indent="0">
              <a:buNone/>
            </a:pPr>
            <a:r>
              <a:rPr lang="en-US" sz="1300" b="1" dirty="0">
                <a:solidFill>
                  <a:srgbClr val="1A3A52"/>
                </a:solidFill>
                <a:latin typeface="Georgia" pitchFamily="34" charset="0"/>
                <a:ea typeface="Georgia" pitchFamily="34" charset="-122"/>
                <a:cs typeface="Georgia" pitchFamily="34" charset="-120"/>
              </a:rPr>
              <a:t>AI Chat (RAG)</a:t>
            </a:r>
            <a:endParaRPr lang="en-US" sz="1300" dirty="0"/>
          </a:p>
        </p:txBody>
      </p:sp>
      <p:sp>
        <p:nvSpPr>
          <p:cNvPr id="20" name="Text 16"/>
          <p:cNvSpPr/>
          <p:nvPr/>
        </p:nvSpPr>
        <p:spPr>
          <a:xfrm>
            <a:off x="3337560" y="1792224"/>
            <a:ext cx="2542032" cy="804672"/>
          </a:xfrm>
          <a:prstGeom prst="rect">
            <a:avLst/>
          </a:prstGeom>
          <a:noFill/>
          <a:ln/>
        </p:spPr>
        <p:txBody>
          <a:bodyPr wrap="square" lIns="0" tIns="0" rIns="0" bIns="0" rtlCol="0" anchor="ctr"/>
          <a:lstStyle/>
          <a:p>
            <a:pPr marL="0" indent="0">
              <a:buNone/>
            </a:pPr>
            <a:r>
              <a:rPr lang="en-US" sz="1000" dirty="0">
                <a:solidFill>
                  <a:srgbClr val="3A6E94"/>
                </a:solidFill>
              </a:rPr>
              <a:t>Questions answered from your own stored thoughts via semantic search</a:t>
            </a:r>
            <a:endParaRPr lang="en-US" sz="1000" dirty="0"/>
          </a:p>
        </p:txBody>
      </p:sp>
      <p:sp>
        <p:nvSpPr>
          <p:cNvPr id="21" name="Shape 17"/>
          <p:cNvSpPr/>
          <p:nvPr/>
        </p:nvSpPr>
        <p:spPr>
          <a:xfrm>
            <a:off x="6144768" y="1024128"/>
            <a:ext cx="2798064" cy="1719072"/>
          </a:xfrm>
          <a:prstGeom prst="rect">
            <a:avLst/>
          </a:prstGeom>
          <a:solidFill>
            <a:srgbClr val="E8F4FB"/>
          </a:solidFill>
          <a:ln w="6350">
            <a:solidFill>
              <a:srgbClr val="D0E9F7"/>
            </a:solidFill>
            <a:prstDash val="solid"/>
          </a:ln>
        </p:spPr>
        <p:txBody>
          <a:bodyPr/>
          <a:lstStyle/>
          <a:p>
            <a:endParaRPr lang="en-IN"/>
          </a:p>
        </p:txBody>
      </p:sp>
      <p:sp>
        <p:nvSpPr>
          <p:cNvPr id="22" name="Shape 18"/>
          <p:cNvSpPr/>
          <p:nvPr/>
        </p:nvSpPr>
        <p:spPr>
          <a:xfrm>
            <a:off x="6144768" y="1024128"/>
            <a:ext cx="2798064" cy="73152"/>
          </a:xfrm>
          <a:prstGeom prst="rect">
            <a:avLst/>
          </a:prstGeom>
          <a:solidFill>
            <a:srgbClr val="6BAED6"/>
          </a:solidFill>
          <a:ln w="12700">
            <a:solidFill>
              <a:srgbClr val="6BAED6"/>
            </a:solidFill>
            <a:prstDash val="solid"/>
          </a:ln>
        </p:spPr>
        <p:txBody>
          <a:bodyPr/>
          <a:lstStyle/>
          <a:p>
            <a:endParaRPr lang="en-IN"/>
          </a:p>
        </p:txBody>
      </p:sp>
      <p:sp>
        <p:nvSpPr>
          <p:cNvPr id="23" name="Shape 19"/>
          <p:cNvSpPr/>
          <p:nvPr/>
        </p:nvSpPr>
        <p:spPr>
          <a:xfrm>
            <a:off x="8476488" y="1152144"/>
            <a:ext cx="347472" cy="347472"/>
          </a:xfrm>
          <a:prstGeom prst="ellipse">
            <a:avLst/>
          </a:prstGeom>
          <a:solidFill>
            <a:srgbClr val="6BAED6"/>
          </a:solidFill>
          <a:ln w="12700">
            <a:solidFill>
              <a:srgbClr val="6BAED6"/>
            </a:solidFill>
            <a:prstDash val="solid"/>
          </a:ln>
        </p:spPr>
        <p:txBody>
          <a:bodyPr/>
          <a:lstStyle/>
          <a:p>
            <a:endParaRPr lang="en-IN"/>
          </a:p>
        </p:txBody>
      </p:sp>
      <p:sp>
        <p:nvSpPr>
          <p:cNvPr id="24" name="Text 20"/>
          <p:cNvSpPr/>
          <p:nvPr/>
        </p:nvSpPr>
        <p:spPr>
          <a:xfrm>
            <a:off x="8476488" y="1152144"/>
            <a:ext cx="347472" cy="347472"/>
          </a:xfrm>
          <a:prstGeom prst="rect">
            <a:avLst/>
          </a:prstGeom>
          <a:noFill/>
          <a:ln/>
        </p:spPr>
        <p:txBody>
          <a:bodyPr wrap="square" lIns="0" tIns="0" rIns="0" bIns="0" rtlCol="0" anchor="ctr"/>
          <a:lstStyle/>
          <a:p>
            <a:pPr marL="0" indent="0" algn="ctr">
              <a:buNone/>
            </a:pPr>
            <a:r>
              <a:rPr lang="en-US" sz="900" b="1" dirty="0">
                <a:solidFill>
                  <a:srgbClr val="FFFFFF"/>
                </a:solidFill>
              </a:rPr>
              <a:t>03</a:t>
            </a:r>
            <a:endParaRPr lang="en-US" sz="900" dirty="0"/>
          </a:p>
        </p:txBody>
      </p:sp>
      <p:sp>
        <p:nvSpPr>
          <p:cNvPr id="25" name="Shape 21"/>
          <p:cNvSpPr/>
          <p:nvPr/>
        </p:nvSpPr>
        <p:spPr>
          <a:xfrm>
            <a:off x="6281928" y="1188720"/>
            <a:ext cx="512064" cy="512064"/>
          </a:xfrm>
          <a:prstGeom prst="ellipse">
            <a:avLst/>
          </a:prstGeom>
          <a:solidFill>
            <a:srgbClr val="D0E9F7"/>
          </a:solidFill>
          <a:ln w="12700">
            <a:solidFill>
              <a:srgbClr val="D0E9F7"/>
            </a:solidFill>
            <a:prstDash val="solid"/>
          </a:ln>
        </p:spPr>
        <p:txBody>
          <a:bodyPr/>
          <a:lstStyle/>
          <a:p>
            <a:endParaRPr lang="en-IN"/>
          </a:p>
        </p:txBody>
      </p:sp>
      <p:pic>
        <p:nvPicPr>
          <p:cNvPr id="26" name="Image 2" descr="preencoded.png"/>
          <p:cNvPicPr>
            <a:picLocks noChangeAspect="1"/>
          </p:cNvPicPr>
          <p:nvPr/>
        </p:nvPicPr>
        <p:blipFill>
          <a:blip r:embed="rId5"/>
          <a:stretch>
            <a:fillRect/>
          </a:stretch>
        </p:blipFill>
        <p:spPr>
          <a:xfrm>
            <a:off x="6345936" y="1252728"/>
            <a:ext cx="384048" cy="384048"/>
          </a:xfrm>
          <a:prstGeom prst="rect">
            <a:avLst/>
          </a:prstGeom>
        </p:spPr>
      </p:pic>
      <p:sp>
        <p:nvSpPr>
          <p:cNvPr id="27" name="Text 22"/>
          <p:cNvSpPr/>
          <p:nvPr/>
        </p:nvSpPr>
        <p:spPr>
          <a:xfrm>
            <a:off x="6912864" y="1188720"/>
            <a:ext cx="1901952" cy="347472"/>
          </a:xfrm>
          <a:prstGeom prst="rect">
            <a:avLst/>
          </a:prstGeom>
          <a:noFill/>
          <a:ln/>
        </p:spPr>
        <p:txBody>
          <a:bodyPr wrap="square" lIns="0" tIns="0" rIns="0" bIns="0" rtlCol="0" anchor="ctr"/>
          <a:lstStyle/>
          <a:p>
            <a:pPr marL="0" indent="0">
              <a:buNone/>
            </a:pPr>
            <a:r>
              <a:rPr lang="en-US" sz="1300" b="1" dirty="0">
                <a:solidFill>
                  <a:srgbClr val="1A3A52"/>
                </a:solidFill>
                <a:latin typeface="Georgia" pitchFamily="34" charset="0"/>
                <a:ea typeface="Georgia" pitchFamily="34" charset="-122"/>
                <a:cs typeface="Georgia" pitchFamily="34" charset="-120"/>
              </a:rPr>
              <a:t>Emotion Analytics</a:t>
            </a:r>
            <a:endParaRPr lang="en-US" sz="1300" dirty="0"/>
          </a:p>
        </p:txBody>
      </p:sp>
      <p:sp>
        <p:nvSpPr>
          <p:cNvPr id="28" name="Text 23"/>
          <p:cNvSpPr/>
          <p:nvPr/>
        </p:nvSpPr>
        <p:spPr>
          <a:xfrm>
            <a:off x="6281928" y="1792224"/>
            <a:ext cx="2542032" cy="804672"/>
          </a:xfrm>
          <a:prstGeom prst="rect">
            <a:avLst/>
          </a:prstGeom>
          <a:noFill/>
          <a:ln/>
        </p:spPr>
        <p:txBody>
          <a:bodyPr wrap="square" lIns="0" tIns="0" rIns="0" bIns="0" rtlCol="0" anchor="ctr"/>
          <a:lstStyle/>
          <a:p>
            <a:pPr marL="0" indent="0">
              <a:buNone/>
            </a:pPr>
            <a:r>
              <a:rPr lang="en-US" sz="1000" dirty="0">
                <a:solidFill>
                  <a:srgbClr val="3A6E94"/>
                </a:solidFill>
              </a:rPr>
              <a:t>Mood timeline, dominant emotion per day, top tag clouds</a:t>
            </a:r>
            <a:endParaRPr lang="en-US" sz="1000" dirty="0"/>
          </a:p>
        </p:txBody>
      </p:sp>
      <p:sp>
        <p:nvSpPr>
          <p:cNvPr id="29" name="Shape 24"/>
          <p:cNvSpPr/>
          <p:nvPr/>
        </p:nvSpPr>
        <p:spPr>
          <a:xfrm>
            <a:off x="256032" y="2944368"/>
            <a:ext cx="2798064" cy="1719072"/>
          </a:xfrm>
          <a:prstGeom prst="rect">
            <a:avLst/>
          </a:prstGeom>
          <a:solidFill>
            <a:srgbClr val="FFFFFF"/>
          </a:solidFill>
          <a:ln w="6350">
            <a:solidFill>
              <a:srgbClr val="D0E9F7"/>
            </a:solidFill>
            <a:prstDash val="solid"/>
          </a:ln>
        </p:spPr>
        <p:txBody>
          <a:bodyPr/>
          <a:lstStyle/>
          <a:p>
            <a:endParaRPr lang="en-IN"/>
          </a:p>
        </p:txBody>
      </p:sp>
      <p:sp>
        <p:nvSpPr>
          <p:cNvPr id="30" name="Shape 25"/>
          <p:cNvSpPr/>
          <p:nvPr/>
        </p:nvSpPr>
        <p:spPr>
          <a:xfrm>
            <a:off x="256032" y="2944368"/>
            <a:ext cx="2798064" cy="73152"/>
          </a:xfrm>
          <a:prstGeom prst="rect">
            <a:avLst/>
          </a:prstGeom>
          <a:solidFill>
            <a:srgbClr val="6BAED6"/>
          </a:solidFill>
          <a:ln w="12700">
            <a:solidFill>
              <a:srgbClr val="6BAED6"/>
            </a:solidFill>
            <a:prstDash val="solid"/>
          </a:ln>
        </p:spPr>
        <p:txBody>
          <a:bodyPr/>
          <a:lstStyle/>
          <a:p>
            <a:endParaRPr lang="en-IN"/>
          </a:p>
        </p:txBody>
      </p:sp>
      <p:sp>
        <p:nvSpPr>
          <p:cNvPr id="31" name="Shape 26"/>
          <p:cNvSpPr/>
          <p:nvPr/>
        </p:nvSpPr>
        <p:spPr>
          <a:xfrm>
            <a:off x="2587752" y="3072384"/>
            <a:ext cx="347472" cy="347472"/>
          </a:xfrm>
          <a:prstGeom prst="ellipse">
            <a:avLst/>
          </a:prstGeom>
          <a:solidFill>
            <a:srgbClr val="6BAED6"/>
          </a:solidFill>
          <a:ln w="12700">
            <a:solidFill>
              <a:srgbClr val="6BAED6"/>
            </a:solidFill>
            <a:prstDash val="solid"/>
          </a:ln>
        </p:spPr>
        <p:txBody>
          <a:bodyPr/>
          <a:lstStyle/>
          <a:p>
            <a:endParaRPr lang="en-IN"/>
          </a:p>
        </p:txBody>
      </p:sp>
      <p:sp>
        <p:nvSpPr>
          <p:cNvPr id="32" name="Text 27"/>
          <p:cNvSpPr/>
          <p:nvPr/>
        </p:nvSpPr>
        <p:spPr>
          <a:xfrm>
            <a:off x="2587752" y="3072384"/>
            <a:ext cx="347472" cy="347472"/>
          </a:xfrm>
          <a:prstGeom prst="rect">
            <a:avLst/>
          </a:prstGeom>
          <a:noFill/>
          <a:ln/>
        </p:spPr>
        <p:txBody>
          <a:bodyPr wrap="square" lIns="0" tIns="0" rIns="0" bIns="0" rtlCol="0" anchor="ctr"/>
          <a:lstStyle/>
          <a:p>
            <a:pPr marL="0" indent="0" algn="ctr">
              <a:buNone/>
            </a:pPr>
            <a:r>
              <a:rPr lang="en-US" sz="900" b="1" dirty="0">
                <a:solidFill>
                  <a:srgbClr val="FFFFFF"/>
                </a:solidFill>
              </a:rPr>
              <a:t>04</a:t>
            </a:r>
            <a:endParaRPr lang="en-US" sz="900" dirty="0"/>
          </a:p>
        </p:txBody>
      </p:sp>
      <p:sp>
        <p:nvSpPr>
          <p:cNvPr id="33" name="Shape 28"/>
          <p:cNvSpPr/>
          <p:nvPr/>
        </p:nvSpPr>
        <p:spPr>
          <a:xfrm>
            <a:off x="393192" y="3108960"/>
            <a:ext cx="512064" cy="512064"/>
          </a:xfrm>
          <a:prstGeom prst="ellipse">
            <a:avLst/>
          </a:prstGeom>
          <a:solidFill>
            <a:srgbClr val="D0E9F7"/>
          </a:solidFill>
          <a:ln w="12700">
            <a:solidFill>
              <a:srgbClr val="D0E9F7"/>
            </a:solidFill>
            <a:prstDash val="solid"/>
          </a:ln>
        </p:spPr>
        <p:txBody>
          <a:bodyPr/>
          <a:lstStyle/>
          <a:p>
            <a:endParaRPr lang="en-IN"/>
          </a:p>
        </p:txBody>
      </p:sp>
      <p:pic>
        <p:nvPicPr>
          <p:cNvPr id="34" name="Image 3" descr="preencoded.png"/>
          <p:cNvPicPr>
            <a:picLocks noChangeAspect="1"/>
          </p:cNvPicPr>
          <p:nvPr/>
        </p:nvPicPr>
        <p:blipFill>
          <a:blip r:embed="rId6"/>
          <a:stretch>
            <a:fillRect/>
          </a:stretch>
        </p:blipFill>
        <p:spPr>
          <a:xfrm>
            <a:off x="457200" y="3172968"/>
            <a:ext cx="384048" cy="384048"/>
          </a:xfrm>
          <a:prstGeom prst="rect">
            <a:avLst/>
          </a:prstGeom>
        </p:spPr>
      </p:pic>
      <p:sp>
        <p:nvSpPr>
          <p:cNvPr id="35" name="Text 29"/>
          <p:cNvSpPr/>
          <p:nvPr/>
        </p:nvSpPr>
        <p:spPr>
          <a:xfrm>
            <a:off x="1024128" y="3108960"/>
            <a:ext cx="1901952" cy="347472"/>
          </a:xfrm>
          <a:prstGeom prst="rect">
            <a:avLst/>
          </a:prstGeom>
          <a:noFill/>
          <a:ln/>
        </p:spPr>
        <p:txBody>
          <a:bodyPr wrap="square" lIns="0" tIns="0" rIns="0" bIns="0" rtlCol="0" anchor="ctr"/>
          <a:lstStyle/>
          <a:p>
            <a:pPr marL="0" indent="0">
              <a:buNone/>
            </a:pPr>
            <a:r>
              <a:rPr lang="en-US" sz="1300" b="1" dirty="0">
                <a:solidFill>
                  <a:srgbClr val="1A3A52"/>
                </a:solidFill>
                <a:latin typeface="Georgia" pitchFamily="34" charset="0"/>
                <a:ea typeface="Georgia" pitchFamily="34" charset="-122"/>
                <a:cs typeface="Georgia" pitchFamily="34" charset="-120"/>
              </a:rPr>
              <a:t>Smart Reminders</a:t>
            </a:r>
            <a:endParaRPr lang="en-US" sz="1300" dirty="0"/>
          </a:p>
        </p:txBody>
      </p:sp>
      <p:sp>
        <p:nvSpPr>
          <p:cNvPr id="36" name="Text 30"/>
          <p:cNvSpPr/>
          <p:nvPr/>
        </p:nvSpPr>
        <p:spPr>
          <a:xfrm>
            <a:off x="393192" y="3712464"/>
            <a:ext cx="2542032" cy="804672"/>
          </a:xfrm>
          <a:prstGeom prst="rect">
            <a:avLst/>
          </a:prstGeom>
          <a:noFill/>
          <a:ln/>
        </p:spPr>
        <p:txBody>
          <a:bodyPr wrap="square" lIns="0" tIns="0" rIns="0" bIns="0" rtlCol="0" anchor="ctr"/>
          <a:lstStyle/>
          <a:p>
            <a:pPr marL="0" indent="0">
              <a:buNone/>
            </a:pPr>
            <a:r>
              <a:rPr lang="en-US" sz="1000" dirty="0">
                <a:solidFill>
                  <a:srgbClr val="3A6E94"/>
                </a:solidFill>
              </a:rPr>
              <a:t>One-time and recurring reminders with background threads</a:t>
            </a:r>
            <a:endParaRPr lang="en-US" sz="1000" dirty="0"/>
          </a:p>
        </p:txBody>
      </p:sp>
      <p:sp>
        <p:nvSpPr>
          <p:cNvPr id="37" name="Shape 31"/>
          <p:cNvSpPr/>
          <p:nvPr/>
        </p:nvSpPr>
        <p:spPr>
          <a:xfrm>
            <a:off x="3200400" y="2944368"/>
            <a:ext cx="2798064" cy="1719072"/>
          </a:xfrm>
          <a:prstGeom prst="rect">
            <a:avLst/>
          </a:prstGeom>
          <a:solidFill>
            <a:srgbClr val="FFFFFF"/>
          </a:solidFill>
          <a:ln w="6350">
            <a:solidFill>
              <a:srgbClr val="D0E9F7"/>
            </a:solidFill>
            <a:prstDash val="solid"/>
          </a:ln>
        </p:spPr>
        <p:txBody>
          <a:bodyPr/>
          <a:lstStyle/>
          <a:p>
            <a:endParaRPr lang="en-IN"/>
          </a:p>
        </p:txBody>
      </p:sp>
      <p:sp>
        <p:nvSpPr>
          <p:cNvPr id="38" name="Shape 32"/>
          <p:cNvSpPr/>
          <p:nvPr/>
        </p:nvSpPr>
        <p:spPr>
          <a:xfrm>
            <a:off x="3200400" y="2944368"/>
            <a:ext cx="2798064" cy="73152"/>
          </a:xfrm>
          <a:prstGeom prst="rect">
            <a:avLst/>
          </a:prstGeom>
          <a:solidFill>
            <a:srgbClr val="6BAED6"/>
          </a:solidFill>
          <a:ln w="12700">
            <a:solidFill>
              <a:srgbClr val="6BAED6"/>
            </a:solidFill>
            <a:prstDash val="solid"/>
          </a:ln>
        </p:spPr>
        <p:txBody>
          <a:bodyPr/>
          <a:lstStyle/>
          <a:p>
            <a:endParaRPr lang="en-IN"/>
          </a:p>
        </p:txBody>
      </p:sp>
      <p:sp>
        <p:nvSpPr>
          <p:cNvPr id="39" name="Shape 33"/>
          <p:cNvSpPr/>
          <p:nvPr/>
        </p:nvSpPr>
        <p:spPr>
          <a:xfrm>
            <a:off x="5532120" y="3072384"/>
            <a:ext cx="347472" cy="347472"/>
          </a:xfrm>
          <a:prstGeom prst="ellipse">
            <a:avLst/>
          </a:prstGeom>
          <a:solidFill>
            <a:srgbClr val="6BAED6"/>
          </a:solidFill>
          <a:ln w="12700">
            <a:solidFill>
              <a:srgbClr val="6BAED6"/>
            </a:solidFill>
            <a:prstDash val="solid"/>
          </a:ln>
        </p:spPr>
        <p:txBody>
          <a:bodyPr/>
          <a:lstStyle/>
          <a:p>
            <a:endParaRPr lang="en-IN"/>
          </a:p>
        </p:txBody>
      </p:sp>
      <p:sp>
        <p:nvSpPr>
          <p:cNvPr id="40" name="Text 34"/>
          <p:cNvSpPr/>
          <p:nvPr/>
        </p:nvSpPr>
        <p:spPr>
          <a:xfrm>
            <a:off x="5532120" y="3072384"/>
            <a:ext cx="347472" cy="347472"/>
          </a:xfrm>
          <a:prstGeom prst="rect">
            <a:avLst/>
          </a:prstGeom>
          <a:noFill/>
          <a:ln/>
        </p:spPr>
        <p:txBody>
          <a:bodyPr wrap="square" lIns="0" tIns="0" rIns="0" bIns="0" rtlCol="0" anchor="ctr"/>
          <a:lstStyle/>
          <a:p>
            <a:pPr marL="0" indent="0" algn="ctr">
              <a:buNone/>
            </a:pPr>
            <a:r>
              <a:rPr lang="en-US" sz="900" b="1" dirty="0">
                <a:solidFill>
                  <a:srgbClr val="FFFFFF"/>
                </a:solidFill>
              </a:rPr>
              <a:t>05</a:t>
            </a:r>
            <a:endParaRPr lang="en-US" sz="900" dirty="0"/>
          </a:p>
        </p:txBody>
      </p:sp>
      <p:sp>
        <p:nvSpPr>
          <p:cNvPr id="41" name="Shape 35"/>
          <p:cNvSpPr/>
          <p:nvPr/>
        </p:nvSpPr>
        <p:spPr>
          <a:xfrm>
            <a:off x="3337560" y="3108960"/>
            <a:ext cx="512064" cy="512064"/>
          </a:xfrm>
          <a:prstGeom prst="ellipse">
            <a:avLst/>
          </a:prstGeom>
          <a:solidFill>
            <a:srgbClr val="D0E9F7"/>
          </a:solidFill>
          <a:ln w="12700">
            <a:solidFill>
              <a:srgbClr val="D0E9F7"/>
            </a:solidFill>
            <a:prstDash val="solid"/>
          </a:ln>
        </p:spPr>
        <p:txBody>
          <a:bodyPr/>
          <a:lstStyle/>
          <a:p>
            <a:endParaRPr lang="en-IN"/>
          </a:p>
        </p:txBody>
      </p:sp>
      <p:pic>
        <p:nvPicPr>
          <p:cNvPr id="42" name="Image 4" descr="preencoded.png"/>
          <p:cNvPicPr>
            <a:picLocks noChangeAspect="1"/>
          </p:cNvPicPr>
          <p:nvPr/>
        </p:nvPicPr>
        <p:blipFill>
          <a:blip r:embed="rId7"/>
          <a:stretch>
            <a:fillRect/>
          </a:stretch>
        </p:blipFill>
        <p:spPr>
          <a:xfrm>
            <a:off x="3401568" y="3172968"/>
            <a:ext cx="384048" cy="384048"/>
          </a:xfrm>
          <a:prstGeom prst="rect">
            <a:avLst/>
          </a:prstGeom>
        </p:spPr>
      </p:pic>
      <p:sp>
        <p:nvSpPr>
          <p:cNvPr id="43" name="Text 36"/>
          <p:cNvSpPr/>
          <p:nvPr/>
        </p:nvSpPr>
        <p:spPr>
          <a:xfrm>
            <a:off x="3968496" y="3108960"/>
            <a:ext cx="1901952" cy="347472"/>
          </a:xfrm>
          <a:prstGeom prst="rect">
            <a:avLst/>
          </a:prstGeom>
          <a:noFill/>
          <a:ln/>
        </p:spPr>
        <p:txBody>
          <a:bodyPr wrap="square" lIns="0" tIns="0" rIns="0" bIns="0" rtlCol="0" anchor="ctr"/>
          <a:lstStyle/>
          <a:p>
            <a:pPr marL="0" indent="0">
              <a:buNone/>
            </a:pPr>
            <a:r>
              <a:rPr lang="en-US" sz="1300" b="1" dirty="0">
                <a:solidFill>
                  <a:srgbClr val="1A3A52"/>
                </a:solidFill>
                <a:latin typeface="Georgia" pitchFamily="34" charset="0"/>
                <a:ea typeface="Georgia" pitchFamily="34" charset="-122"/>
                <a:cs typeface="Georgia" pitchFamily="34" charset="-120"/>
              </a:rPr>
              <a:t>Knowledge Graph</a:t>
            </a:r>
            <a:endParaRPr lang="en-US" sz="1300" dirty="0"/>
          </a:p>
        </p:txBody>
      </p:sp>
      <p:sp>
        <p:nvSpPr>
          <p:cNvPr id="44" name="Text 37"/>
          <p:cNvSpPr/>
          <p:nvPr/>
        </p:nvSpPr>
        <p:spPr>
          <a:xfrm>
            <a:off x="3337560" y="3712464"/>
            <a:ext cx="2542032" cy="804672"/>
          </a:xfrm>
          <a:prstGeom prst="rect">
            <a:avLst/>
          </a:prstGeom>
          <a:noFill/>
          <a:ln/>
        </p:spPr>
        <p:txBody>
          <a:bodyPr wrap="square" lIns="0" tIns="0" rIns="0" bIns="0" rtlCol="0" anchor="ctr"/>
          <a:lstStyle/>
          <a:p>
            <a:pPr marL="0" indent="0">
              <a:buNone/>
            </a:pPr>
            <a:r>
              <a:rPr lang="en-US" sz="1000" dirty="0">
                <a:solidFill>
                  <a:srgbClr val="3A6E94"/>
                </a:solidFill>
              </a:rPr>
              <a:t>Tag-based node graph visually connecting related thoughts</a:t>
            </a:r>
            <a:endParaRPr lang="en-US" sz="1000" dirty="0"/>
          </a:p>
        </p:txBody>
      </p:sp>
      <p:sp>
        <p:nvSpPr>
          <p:cNvPr id="45" name="Shape 38"/>
          <p:cNvSpPr/>
          <p:nvPr/>
        </p:nvSpPr>
        <p:spPr>
          <a:xfrm>
            <a:off x="6144768" y="2944368"/>
            <a:ext cx="2798064" cy="1719072"/>
          </a:xfrm>
          <a:prstGeom prst="rect">
            <a:avLst/>
          </a:prstGeom>
          <a:solidFill>
            <a:srgbClr val="FFFFFF"/>
          </a:solidFill>
          <a:ln w="6350">
            <a:solidFill>
              <a:srgbClr val="D0E9F7"/>
            </a:solidFill>
            <a:prstDash val="solid"/>
          </a:ln>
        </p:spPr>
        <p:txBody>
          <a:bodyPr/>
          <a:lstStyle/>
          <a:p>
            <a:endParaRPr lang="en-IN"/>
          </a:p>
        </p:txBody>
      </p:sp>
      <p:sp>
        <p:nvSpPr>
          <p:cNvPr id="46" name="Shape 39"/>
          <p:cNvSpPr/>
          <p:nvPr/>
        </p:nvSpPr>
        <p:spPr>
          <a:xfrm>
            <a:off x="6144768" y="2944368"/>
            <a:ext cx="2798064" cy="73152"/>
          </a:xfrm>
          <a:prstGeom prst="rect">
            <a:avLst/>
          </a:prstGeom>
          <a:solidFill>
            <a:srgbClr val="6BAED6"/>
          </a:solidFill>
          <a:ln w="12700">
            <a:solidFill>
              <a:srgbClr val="6BAED6"/>
            </a:solidFill>
            <a:prstDash val="solid"/>
          </a:ln>
        </p:spPr>
        <p:txBody>
          <a:bodyPr/>
          <a:lstStyle/>
          <a:p>
            <a:endParaRPr lang="en-IN"/>
          </a:p>
        </p:txBody>
      </p:sp>
      <p:sp>
        <p:nvSpPr>
          <p:cNvPr id="47" name="Shape 40"/>
          <p:cNvSpPr/>
          <p:nvPr/>
        </p:nvSpPr>
        <p:spPr>
          <a:xfrm>
            <a:off x="8476488" y="3072384"/>
            <a:ext cx="347472" cy="347472"/>
          </a:xfrm>
          <a:prstGeom prst="ellipse">
            <a:avLst/>
          </a:prstGeom>
          <a:solidFill>
            <a:srgbClr val="6BAED6"/>
          </a:solidFill>
          <a:ln w="12700">
            <a:solidFill>
              <a:srgbClr val="6BAED6"/>
            </a:solidFill>
            <a:prstDash val="solid"/>
          </a:ln>
        </p:spPr>
        <p:txBody>
          <a:bodyPr/>
          <a:lstStyle/>
          <a:p>
            <a:endParaRPr lang="en-IN"/>
          </a:p>
        </p:txBody>
      </p:sp>
      <p:sp>
        <p:nvSpPr>
          <p:cNvPr id="48" name="Text 41"/>
          <p:cNvSpPr/>
          <p:nvPr/>
        </p:nvSpPr>
        <p:spPr>
          <a:xfrm>
            <a:off x="8476488" y="3072384"/>
            <a:ext cx="347472" cy="347472"/>
          </a:xfrm>
          <a:prstGeom prst="rect">
            <a:avLst/>
          </a:prstGeom>
          <a:noFill/>
          <a:ln/>
        </p:spPr>
        <p:txBody>
          <a:bodyPr wrap="square" lIns="0" tIns="0" rIns="0" bIns="0" rtlCol="0" anchor="ctr"/>
          <a:lstStyle/>
          <a:p>
            <a:pPr marL="0" indent="0" algn="ctr">
              <a:buNone/>
            </a:pPr>
            <a:r>
              <a:rPr lang="en-US" sz="900" b="1" dirty="0">
                <a:solidFill>
                  <a:srgbClr val="FFFFFF"/>
                </a:solidFill>
              </a:rPr>
              <a:t>06</a:t>
            </a:r>
            <a:endParaRPr lang="en-US" sz="900" dirty="0"/>
          </a:p>
        </p:txBody>
      </p:sp>
      <p:sp>
        <p:nvSpPr>
          <p:cNvPr id="49" name="Shape 42"/>
          <p:cNvSpPr/>
          <p:nvPr/>
        </p:nvSpPr>
        <p:spPr>
          <a:xfrm>
            <a:off x="6281928" y="3108960"/>
            <a:ext cx="512064" cy="512064"/>
          </a:xfrm>
          <a:prstGeom prst="ellipse">
            <a:avLst/>
          </a:prstGeom>
          <a:solidFill>
            <a:srgbClr val="D0E9F7"/>
          </a:solidFill>
          <a:ln w="12700">
            <a:solidFill>
              <a:srgbClr val="D0E9F7"/>
            </a:solidFill>
            <a:prstDash val="solid"/>
          </a:ln>
        </p:spPr>
        <p:txBody>
          <a:bodyPr/>
          <a:lstStyle/>
          <a:p>
            <a:endParaRPr lang="en-IN"/>
          </a:p>
        </p:txBody>
      </p:sp>
      <p:pic>
        <p:nvPicPr>
          <p:cNvPr id="50" name="Image 5" descr="preencoded.png"/>
          <p:cNvPicPr>
            <a:picLocks noChangeAspect="1"/>
          </p:cNvPicPr>
          <p:nvPr/>
        </p:nvPicPr>
        <p:blipFill>
          <a:blip r:embed="rId8"/>
          <a:stretch>
            <a:fillRect/>
          </a:stretch>
        </p:blipFill>
        <p:spPr>
          <a:xfrm>
            <a:off x="6345936" y="3172968"/>
            <a:ext cx="384048" cy="384048"/>
          </a:xfrm>
          <a:prstGeom prst="rect">
            <a:avLst/>
          </a:prstGeom>
        </p:spPr>
      </p:pic>
      <p:sp>
        <p:nvSpPr>
          <p:cNvPr id="51" name="Text 43"/>
          <p:cNvSpPr/>
          <p:nvPr/>
        </p:nvSpPr>
        <p:spPr>
          <a:xfrm>
            <a:off x="6912864" y="3108960"/>
            <a:ext cx="1901952" cy="347472"/>
          </a:xfrm>
          <a:prstGeom prst="rect">
            <a:avLst/>
          </a:prstGeom>
          <a:noFill/>
          <a:ln/>
        </p:spPr>
        <p:txBody>
          <a:bodyPr wrap="square" lIns="0" tIns="0" rIns="0" bIns="0" rtlCol="0" anchor="ctr"/>
          <a:lstStyle/>
          <a:p>
            <a:pPr marL="0" indent="0">
              <a:buNone/>
            </a:pPr>
            <a:r>
              <a:rPr lang="en-US" sz="1300" b="1" dirty="0">
                <a:solidFill>
                  <a:srgbClr val="1A3A52"/>
                </a:solidFill>
                <a:latin typeface="Georgia" pitchFamily="34" charset="0"/>
                <a:ea typeface="Georgia" pitchFamily="34" charset="-122"/>
                <a:cs typeface="Georgia" pitchFamily="34" charset="-120"/>
              </a:rPr>
              <a:t>Collab Rooms</a:t>
            </a:r>
            <a:endParaRPr lang="en-US" sz="1300" dirty="0"/>
          </a:p>
        </p:txBody>
      </p:sp>
      <p:sp>
        <p:nvSpPr>
          <p:cNvPr id="52" name="Text 44"/>
          <p:cNvSpPr/>
          <p:nvPr/>
        </p:nvSpPr>
        <p:spPr>
          <a:xfrm>
            <a:off x="6281928" y="3712464"/>
            <a:ext cx="2542032" cy="804672"/>
          </a:xfrm>
          <a:prstGeom prst="rect">
            <a:avLst/>
          </a:prstGeom>
          <a:noFill/>
          <a:ln/>
        </p:spPr>
        <p:txBody>
          <a:bodyPr wrap="square" lIns="0" tIns="0" rIns="0" bIns="0" rtlCol="0" anchor="ctr"/>
          <a:lstStyle/>
          <a:p>
            <a:pPr marL="0" indent="0">
              <a:buNone/>
            </a:pPr>
            <a:r>
              <a:rPr lang="en-US" sz="1000" dirty="0">
                <a:solidFill>
                  <a:srgbClr val="3A6E94"/>
                </a:solidFill>
              </a:rPr>
              <a:t>Shared brain — team thoughts organised by room codes</a:t>
            </a:r>
            <a:endParaRPr lang="en-US" sz="1000" dirty="0"/>
          </a:p>
        </p:txBody>
      </p:sp>
      <p:sp>
        <p:nvSpPr>
          <p:cNvPr id="53" name="Shape 45"/>
          <p:cNvSpPr/>
          <p:nvPr/>
        </p:nvSpPr>
        <p:spPr>
          <a:xfrm>
            <a:off x="0" y="4773168"/>
            <a:ext cx="9144000" cy="370332"/>
          </a:xfrm>
          <a:prstGeom prst="rect">
            <a:avLst/>
          </a:prstGeom>
          <a:solidFill>
            <a:srgbClr val="D0E9F7"/>
          </a:solidFill>
          <a:ln w="12700">
            <a:solidFill>
              <a:srgbClr val="D0E9F7"/>
            </a:solidFill>
            <a:prstDash val="solid"/>
          </a:ln>
        </p:spPr>
        <p:txBody>
          <a:bodyPr/>
          <a:lstStyle/>
          <a:p>
            <a:endParaRPr lang="en-IN"/>
          </a:p>
        </p:txBody>
      </p:sp>
      <p:sp>
        <p:nvSpPr>
          <p:cNvPr id="54" name="Text 46"/>
          <p:cNvSpPr/>
          <p:nvPr/>
        </p:nvSpPr>
        <p:spPr>
          <a:xfrm>
            <a:off x="0" y="4773168"/>
            <a:ext cx="9144000" cy="370332"/>
          </a:xfrm>
          <a:prstGeom prst="rect">
            <a:avLst/>
          </a:prstGeom>
          <a:noFill/>
          <a:ln/>
        </p:spPr>
        <p:txBody>
          <a:bodyPr wrap="square" lIns="0" tIns="0" rIns="0" bIns="0" rtlCol="0" anchor="ctr"/>
          <a:lstStyle/>
          <a:p>
            <a:pPr marL="0" indent="0" algn="ctr">
              <a:buNone/>
            </a:pPr>
            <a:r>
              <a:rPr lang="en-US" sz="950" i="1" dirty="0">
                <a:solidFill>
                  <a:srgbClr val="3A6E94"/>
                </a:solidFill>
              </a:rPr>
              <a:t>6 powerful features — all in one unified FastAPI backend service</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6BAED6"/>
          </a:solidFill>
          <a:ln w="12700">
            <a:solidFill>
              <a:srgbClr val="6BAED6"/>
            </a:solidFill>
            <a:prstDash val="solid"/>
          </a:ln>
        </p:spPr>
        <p:txBody>
          <a:bodyPr/>
          <a:lstStyle/>
          <a:p>
            <a:endParaRPr lang="en-IN"/>
          </a:p>
        </p:txBody>
      </p:sp>
      <p:sp>
        <p:nvSpPr>
          <p:cNvPr id="3" name="Text 1"/>
          <p:cNvSpPr/>
          <p:nvPr/>
        </p:nvSpPr>
        <p:spPr>
          <a:xfrm>
            <a:off x="274320" y="73152"/>
            <a:ext cx="685800" cy="768096"/>
          </a:xfrm>
          <a:prstGeom prst="rect">
            <a:avLst/>
          </a:prstGeom>
          <a:noFill/>
          <a:ln/>
        </p:spPr>
        <p:txBody>
          <a:bodyPr wrap="square" lIns="0" tIns="0" rIns="0" bIns="0" rtlCol="0" anchor="ctr"/>
          <a:lstStyle/>
          <a:p>
            <a:pPr marL="0" indent="0">
              <a:buNone/>
            </a:pPr>
            <a:endParaRPr lang="en-US" sz="3400" dirty="0"/>
          </a:p>
        </p:txBody>
      </p:sp>
      <p:sp>
        <p:nvSpPr>
          <p:cNvPr id="4" name="Text 2"/>
          <p:cNvSpPr/>
          <p:nvPr/>
        </p:nvSpPr>
        <p:spPr>
          <a:xfrm>
            <a:off x="384497" y="56363"/>
            <a:ext cx="5486400" cy="768096"/>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System Architecture</a:t>
            </a:r>
            <a:endParaRPr lang="en-US" sz="2600" dirty="0"/>
          </a:p>
        </p:txBody>
      </p:sp>
      <p:sp>
        <p:nvSpPr>
          <p:cNvPr id="5" name="Text 3"/>
          <p:cNvSpPr/>
          <p:nvPr/>
        </p:nvSpPr>
        <p:spPr>
          <a:xfrm>
            <a:off x="1051560" y="73152"/>
            <a:ext cx="7818120" cy="768096"/>
          </a:xfrm>
          <a:prstGeom prst="rect">
            <a:avLst/>
          </a:prstGeom>
          <a:noFill/>
          <a:ln/>
        </p:spPr>
        <p:txBody>
          <a:bodyPr wrap="square" lIns="0" tIns="0" rIns="0" bIns="0" rtlCol="0" anchor="ctr"/>
          <a:lstStyle/>
          <a:p>
            <a:pPr marL="0" indent="0" algn="r">
              <a:buNone/>
            </a:pPr>
            <a:r>
              <a:rPr lang="en-US" sz="1050" i="1" dirty="0">
                <a:solidFill>
                  <a:srgbClr val="E8F4FB"/>
                </a:solidFill>
              </a:rPr>
              <a:t>How EchoMind processes every thought</a:t>
            </a:r>
            <a:endParaRPr lang="en-US" sz="1050" dirty="0"/>
          </a:p>
        </p:txBody>
      </p:sp>
      <p:sp>
        <p:nvSpPr>
          <p:cNvPr id="6" name="Shape 4"/>
          <p:cNvSpPr/>
          <p:nvPr/>
        </p:nvSpPr>
        <p:spPr>
          <a:xfrm>
            <a:off x="256032" y="1170432"/>
            <a:ext cx="530352" cy="530352"/>
          </a:xfrm>
          <a:prstGeom prst="ellipse">
            <a:avLst/>
          </a:prstGeom>
          <a:solidFill>
            <a:srgbClr val="6BAED6"/>
          </a:solidFill>
          <a:ln w="12700">
            <a:solidFill>
              <a:srgbClr val="6BAED6"/>
            </a:solidFill>
            <a:prstDash val="solid"/>
          </a:ln>
        </p:spPr>
        <p:txBody>
          <a:bodyPr/>
          <a:lstStyle/>
          <a:p>
            <a:endParaRPr lang="en-IN"/>
          </a:p>
        </p:txBody>
      </p:sp>
      <p:sp>
        <p:nvSpPr>
          <p:cNvPr id="7" name="Text 5"/>
          <p:cNvSpPr/>
          <p:nvPr/>
        </p:nvSpPr>
        <p:spPr>
          <a:xfrm>
            <a:off x="256032" y="1170432"/>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8" name="Shape 6"/>
          <p:cNvSpPr/>
          <p:nvPr/>
        </p:nvSpPr>
        <p:spPr>
          <a:xfrm>
            <a:off x="932688" y="1024128"/>
            <a:ext cx="3337560" cy="804672"/>
          </a:xfrm>
          <a:prstGeom prst="rect">
            <a:avLst/>
          </a:prstGeom>
          <a:solidFill>
            <a:srgbClr val="E8F4FB"/>
          </a:solidFill>
          <a:ln w="6350">
            <a:solidFill>
              <a:srgbClr val="D0E9F7"/>
            </a:solidFill>
            <a:prstDash val="solid"/>
          </a:ln>
        </p:spPr>
        <p:txBody>
          <a:bodyPr/>
          <a:lstStyle/>
          <a:p>
            <a:endParaRPr lang="en-IN"/>
          </a:p>
        </p:txBody>
      </p:sp>
      <p:sp>
        <p:nvSpPr>
          <p:cNvPr id="9" name="Shape 7"/>
          <p:cNvSpPr/>
          <p:nvPr/>
        </p:nvSpPr>
        <p:spPr>
          <a:xfrm>
            <a:off x="932688" y="1024128"/>
            <a:ext cx="64008" cy="804672"/>
          </a:xfrm>
          <a:prstGeom prst="rect">
            <a:avLst/>
          </a:prstGeom>
          <a:solidFill>
            <a:srgbClr val="6BAED6"/>
          </a:solidFill>
          <a:ln w="12700">
            <a:solidFill>
              <a:srgbClr val="6BAED6"/>
            </a:solidFill>
            <a:prstDash val="solid"/>
          </a:ln>
        </p:spPr>
        <p:txBody>
          <a:bodyPr/>
          <a:lstStyle/>
          <a:p>
            <a:endParaRPr lang="en-IN"/>
          </a:p>
        </p:txBody>
      </p:sp>
      <p:pic>
        <p:nvPicPr>
          <p:cNvPr id="10" name="Image 0" descr="preencoded.png"/>
          <p:cNvPicPr>
            <a:picLocks noChangeAspect="1"/>
          </p:cNvPicPr>
          <p:nvPr/>
        </p:nvPicPr>
        <p:blipFill>
          <a:blip r:embed="rId3"/>
          <a:stretch>
            <a:fillRect/>
          </a:stretch>
        </p:blipFill>
        <p:spPr>
          <a:xfrm>
            <a:off x="1097280" y="1225296"/>
            <a:ext cx="347472" cy="347472"/>
          </a:xfrm>
          <a:prstGeom prst="rect">
            <a:avLst/>
          </a:prstGeom>
        </p:spPr>
      </p:pic>
      <p:sp>
        <p:nvSpPr>
          <p:cNvPr id="11" name="Text 8"/>
          <p:cNvSpPr/>
          <p:nvPr/>
        </p:nvSpPr>
        <p:spPr>
          <a:xfrm>
            <a:off x="1554480" y="1115568"/>
            <a:ext cx="2606040" cy="320040"/>
          </a:xfrm>
          <a:prstGeom prst="rect">
            <a:avLst/>
          </a:prstGeom>
          <a:noFill/>
          <a:ln/>
        </p:spPr>
        <p:txBody>
          <a:bodyPr wrap="square" lIns="0" tIns="0" rIns="0" bIns="0" rtlCol="0" anchor="ctr"/>
          <a:lstStyle/>
          <a:p>
            <a:pPr marL="0" indent="0">
              <a:buNone/>
            </a:pPr>
            <a:r>
              <a:rPr lang="en-US" sz="1400" b="1" dirty="0">
                <a:solidFill>
                  <a:srgbClr val="1A3A52"/>
                </a:solidFill>
                <a:latin typeface="Georgia" pitchFamily="34" charset="0"/>
                <a:ea typeface="Georgia" pitchFamily="34" charset="-122"/>
                <a:cs typeface="Georgia" pitchFamily="34" charset="-120"/>
              </a:rPr>
              <a:t>Client</a:t>
            </a:r>
            <a:endParaRPr lang="en-US" sz="1400" dirty="0"/>
          </a:p>
        </p:txBody>
      </p:sp>
      <p:sp>
        <p:nvSpPr>
          <p:cNvPr id="12" name="Text 9"/>
          <p:cNvSpPr/>
          <p:nvPr/>
        </p:nvSpPr>
        <p:spPr>
          <a:xfrm>
            <a:off x="1554480" y="1463040"/>
            <a:ext cx="2606040" cy="256032"/>
          </a:xfrm>
          <a:prstGeom prst="rect">
            <a:avLst/>
          </a:prstGeom>
          <a:noFill/>
          <a:ln/>
        </p:spPr>
        <p:txBody>
          <a:bodyPr wrap="square" lIns="0" tIns="0" rIns="0" bIns="0" rtlCol="0" anchor="ctr"/>
          <a:lstStyle/>
          <a:p>
            <a:pPr marL="0" indent="0">
              <a:buNone/>
            </a:pPr>
            <a:r>
              <a:rPr lang="en-US" sz="1000" dirty="0">
                <a:solidFill>
                  <a:srgbClr val="3A6E94"/>
                </a:solidFill>
              </a:rPr>
              <a:t>Browser / React Frontend</a:t>
            </a:r>
            <a:endParaRPr lang="en-US" sz="1000" dirty="0"/>
          </a:p>
        </p:txBody>
      </p:sp>
      <p:sp>
        <p:nvSpPr>
          <p:cNvPr id="13" name="Shape 10"/>
          <p:cNvSpPr/>
          <p:nvPr/>
        </p:nvSpPr>
        <p:spPr>
          <a:xfrm>
            <a:off x="475488" y="1700784"/>
            <a:ext cx="91440" cy="310896"/>
          </a:xfrm>
          <a:prstGeom prst="rect">
            <a:avLst/>
          </a:prstGeom>
          <a:solidFill>
            <a:srgbClr val="9ECAE1">
              <a:alpha val="70000"/>
            </a:srgbClr>
          </a:solidFill>
          <a:ln w="12700">
            <a:solidFill>
              <a:srgbClr val="9ECAE1"/>
            </a:solidFill>
            <a:prstDash val="solid"/>
          </a:ln>
        </p:spPr>
        <p:txBody>
          <a:bodyPr/>
          <a:lstStyle/>
          <a:p>
            <a:endParaRPr lang="en-IN"/>
          </a:p>
        </p:txBody>
      </p:sp>
      <p:sp>
        <p:nvSpPr>
          <p:cNvPr id="14" name="Shape 11"/>
          <p:cNvSpPr/>
          <p:nvPr/>
        </p:nvSpPr>
        <p:spPr>
          <a:xfrm>
            <a:off x="256032" y="2157984"/>
            <a:ext cx="530352" cy="530352"/>
          </a:xfrm>
          <a:prstGeom prst="ellipse">
            <a:avLst/>
          </a:prstGeom>
          <a:solidFill>
            <a:srgbClr val="6BAED6"/>
          </a:solidFill>
          <a:ln w="12700">
            <a:solidFill>
              <a:srgbClr val="6BAED6"/>
            </a:solidFill>
            <a:prstDash val="solid"/>
          </a:ln>
        </p:spPr>
        <p:txBody>
          <a:bodyPr/>
          <a:lstStyle/>
          <a:p>
            <a:endParaRPr lang="en-IN"/>
          </a:p>
        </p:txBody>
      </p:sp>
      <p:sp>
        <p:nvSpPr>
          <p:cNvPr id="15" name="Text 12"/>
          <p:cNvSpPr/>
          <p:nvPr/>
        </p:nvSpPr>
        <p:spPr>
          <a:xfrm>
            <a:off x="256032" y="2157984"/>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6" name="Shape 13"/>
          <p:cNvSpPr/>
          <p:nvPr/>
        </p:nvSpPr>
        <p:spPr>
          <a:xfrm>
            <a:off x="932688" y="2011680"/>
            <a:ext cx="3337560" cy="804672"/>
          </a:xfrm>
          <a:prstGeom prst="rect">
            <a:avLst/>
          </a:prstGeom>
          <a:solidFill>
            <a:srgbClr val="E8F4FB"/>
          </a:solidFill>
          <a:ln w="6350">
            <a:solidFill>
              <a:srgbClr val="D0E9F7"/>
            </a:solidFill>
            <a:prstDash val="solid"/>
          </a:ln>
        </p:spPr>
        <p:txBody>
          <a:bodyPr/>
          <a:lstStyle/>
          <a:p>
            <a:endParaRPr lang="en-IN"/>
          </a:p>
        </p:txBody>
      </p:sp>
      <p:sp>
        <p:nvSpPr>
          <p:cNvPr id="17" name="Shape 14"/>
          <p:cNvSpPr/>
          <p:nvPr/>
        </p:nvSpPr>
        <p:spPr>
          <a:xfrm>
            <a:off x="932688" y="2011680"/>
            <a:ext cx="64008" cy="804672"/>
          </a:xfrm>
          <a:prstGeom prst="rect">
            <a:avLst/>
          </a:prstGeom>
          <a:solidFill>
            <a:srgbClr val="6BAED6"/>
          </a:solidFill>
          <a:ln w="12700">
            <a:solidFill>
              <a:srgbClr val="6BAED6"/>
            </a:solidFill>
            <a:prstDash val="solid"/>
          </a:ln>
        </p:spPr>
        <p:txBody>
          <a:bodyPr/>
          <a:lstStyle/>
          <a:p>
            <a:endParaRPr lang="en-IN"/>
          </a:p>
        </p:txBody>
      </p:sp>
      <p:pic>
        <p:nvPicPr>
          <p:cNvPr id="18" name="Image 1" descr="preencoded.png"/>
          <p:cNvPicPr>
            <a:picLocks noChangeAspect="1"/>
          </p:cNvPicPr>
          <p:nvPr/>
        </p:nvPicPr>
        <p:blipFill>
          <a:blip r:embed="rId4"/>
          <a:stretch>
            <a:fillRect/>
          </a:stretch>
        </p:blipFill>
        <p:spPr>
          <a:xfrm>
            <a:off x="1097280" y="2212848"/>
            <a:ext cx="347472" cy="347472"/>
          </a:xfrm>
          <a:prstGeom prst="rect">
            <a:avLst/>
          </a:prstGeom>
        </p:spPr>
      </p:pic>
      <p:sp>
        <p:nvSpPr>
          <p:cNvPr id="19" name="Text 15"/>
          <p:cNvSpPr/>
          <p:nvPr/>
        </p:nvSpPr>
        <p:spPr>
          <a:xfrm>
            <a:off x="1554480" y="2103120"/>
            <a:ext cx="2606040" cy="320040"/>
          </a:xfrm>
          <a:prstGeom prst="rect">
            <a:avLst/>
          </a:prstGeom>
          <a:noFill/>
          <a:ln/>
        </p:spPr>
        <p:txBody>
          <a:bodyPr wrap="square" lIns="0" tIns="0" rIns="0" bIns="0" rtlCol="0" anchor="ctr"/>
          <a:lstStyle/>
          <a:p>
            <a:pPr marL="0" indent="0">
              <a:buNone/>
            </a:pPr>
            <a:r>
              <a:rPr lang="en-US" sz="1400" b="1" dirty="0">
                <a:solidFill>
                  <a:srgbClr val="1A3A52"/>
                </a:solidFill>
                <a:latin typeface="Georgia" pitchFamily="34" charset="0"/>
                <a:ea typeface="Georgia" pitchFamily="34" charset="-122"/>
                <a:cs typeface="Georgia" pitchFamily="34" charset="-120"/>
              </a:rPr>
              <a:t>FastAPI</a:t>
            </a:r>
            <a:endParaRPr lang="en-US" sz="1400" dirty="0"/>
          </a:p>
        </p:txBody>
      </p:sp>
      <p:sp>
        <p:nvSpPr>
          <p:cNvPr id="20" name="Text 16"/>
          <p:cNvSpPr/>
          <p:nvPr/>
        </p:nvSpPr>
        <p:spPr>
          <a:xfrm>
            <a:off x="1554480" y="2450592"/>
            <a:ext cx="2606040" cy="256032"/>
          </a:xfrm>
          <a:prstGeom prst="rect">
            <a:avLst/>
          </a:prstGeom>
          <a:noFill/>
          <a:ln/>
        </p:spPr>
        <p:txBody>
          <a:bodyPr wrap="square" lIns="0" tIns="0" rIns="0" bIns="0" rtlCol="0" anchor="ctr"/>
          <a:lstStyle/>
          <a:p>
            <a:pPr marL="0" indent="0">
              <a:buNone/>
            </a:pPr>
            <a:r>
              <a:rPr lang="en-US" sz="1000" dirty="0">
                <a:solidFill>
                  <a:srgbClr val="3A6E94"/>
                </a:solidFill>
              </a:rPr>
              <a:t>Router · Pydantic · CORS</a:t>
            </a:r>
            <a:endParaRPr lang="en-US" sz="1000" dirty="0"/>
          </a:p>
        </p:txBody>
      </p:sp>
      <p:sp>
        <p:nvSpPr>
          <p:cNvPr id="21" name="Shape 17"/>
          <p:cNvSpPr/>
          <p:nvPr/>
        </p:nvSpPr>
        <p:spPr>
          <a:xfrm>
            <a:off x="475488" y="2688336"/>
            <a:ext cx="91440" cy="310896"/>
          </a:xfrm>
          <a:prstGeom prst="rect">
            <a:avLst/>
          </a:prstGeom>
          <a:solidFill>
            <a:srgbClr val="9ECAE1">
              <a:alpha val="70000"/>
            </a:srgbClr>
          </a:solidFill>
          <a:ln w="12700">
            <a:solidFill>
              <a:srgbClr val="9ECAE1"/>
            </a:solidFill>
            <a:prstDash val="solid"/>
          </a:ln>
        </p:spPr>
        <p:txBody>
          <a:bodyPr/>
          <a:lstStyle/>
          <a:p>
            <a:endParaRPr lang="en-IN"/>
          </a:p>
        </p:txBody>
      </p:sp>
      <p:sp>
        <p:nvSpPr>
          <p:cNvPr id="22" name="Shape 18"/>
          <p:cNvSpPr/>
          <p:nvPr/>
        </p:nvSpPr>
        <p:spPr>
          <a:xfrm>
            <a:off x="256032" y="3145536"/>
            <a:ext cx="530352" cy="530352"/>
          </a:xfrm>
          <a:prstGeom prst="ellipse">
            <a:avLst/>
          </a:prstGeom>
          <a:solidFill>
            <a:srgbClr val="6BAED6"/>
          </a:solidFill>
          <a:ln w="12700">
            <a:solidFill>
              <a:srgbClr val="6BAED6"/>
            </a:solidFill>
            <a:prstDash val="solid"/>
          </a:ln>
        </p:spPr>
        <p:txBody>
          <a:bodyPr/>
          <a:lstStyle/>
          <a:p>
            <a:endParaRPr lang="en-IN"/>
          </a:p>
        </p:txBody>
      </p:sp>
      <p:sp>
        <p:nvSpPr>
          <p:cNvPr id="23" name="Text 19"/>
          <p:cNvSpPr/>
          <p:nvPr/>
        </p:nvSpPr>
        <p:spPr>
          <a:xfrm>
            <a:off x="256032" y="3145536"/>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24" name="Shape 20"/>
          <p:cNvSpPr/>
          <p:nvPr/>
        </p:nvSpPr>
        <p:spPr>
          <a:xfrm>
            <a:off x="932688" y="2999232"/>
            <a:ext cx="3337560" cy="804672"/>
          </a:xfrm>
          <a:prstGeom prst="rect">
            <a:avLst/>
          </a:prstGeom>
          <a:solidFill>
            <a:srgbClr val="E8F4FB"/>
          </a:solidFill>
          <a:ln w="6350">
            <a:solidFill>
              <a:srgbClr val="D0E9F7"/>
            </a:solidFill>
            <a:prstDash val="solid"/>
          </a:ln>
        </p:spPr>
        <p:txBody>
          <a:bodyPr/>
          <a:lstStyle/>
          <a:p>
            <a:endParaRPr lang="en-IN"/>
          </a:p>
        </p:txBody>
      </p:sp>
      <p:sp>
        <p:nvSpPr>
          <p:cNvPr id="25" name="Shape 21"/>
          <p:cNvSpPr/>
          <p:nvPr/>
        </p:nvSpPr>
        <p:spPr>
          <a:xfrm>
            <a:off x="932688" y="2999232"/>
            <a:ext cx="64008" cy="804672"/>
          </a:xfrm>
          <a:prstGeom prst="rect">
            <a:avLst/>
          </a:prstGeom>
          <a:solidFill>
            <a:srgbClr val="6BAED6"/>
          </a:solidFill>
          <a:ln w="12700">
            <a:solidFill>
              <a:srgbClr val="6BAED6"/>
            </a:solidFill>
            <a:prstDash val="solid"/>
          </a:ln>
        </p:spPr>
        <p:txBody>
          <a:bodyPr/>
          <a:lstStyle/>
          <a:p>
            <a:endParaRPr lang="en-IN"/>
          </a:p>
        </p:txBody>
      </p:sp>
      <p:pic>
        <p:nvPicPr>
          <p:cNvPr id="26" name="Image 2" descr="preencoded.png"/>
          <p:cNvPicPr>
            <a:picLocks noChangeAspect="1"/>
          </p:cNvPicPr>
          <p:nvPr/>
        </p:nvPicPr>
        <p:blipFill>
          <a:blip r:embed="rId5"/>
          <a:stretch>
            <a:fillRect/>
          </a:stretch>
        </p:blipFill>
        <p:spPr>
          <a:xfrm>
            <a:off x="1097280" y="3200400"/>
            <a:ext cx="347472" cy="347472"/>
          </a:xfrm>
          <a:prstGeom prst="rect">
            <a:avLst/>
          </a:prstGeom>
        </p:spPr>
      </p:pic>
      <p:sp>
        <p:nvSpPr>
          <p:cNvPr id="27" name="Text 22"/>
          <p:cNvSpPr/>
          <p:nvPr/>
        </p:nvSpPr>
        <p:spPr>
          <a:xfrm>
            <a:off x="1554480" y="3090672"/>
            <a:ext cx="2606040" cy="320040"/>
          </a:xfrm>
          <a:prstGeom prst="rect">
            <a:avLst/>
          </a:prstGeom>
          <a:noFill/>
          <a:ln/>
        </p:spPr>
        <p:txBody>
          <a:bodyPr wrap="square" lIns="0" tIns="0" rIns="0" bIns="0" rtlCol="0" anchor="ctr"/>
          <a:lstStyle/>
          <a:p>
            <a:pPr marL="0" indent="0">
              <a:buNone/>
            </a:pPr>
            <a:r>
              <a:rPr lang="en-US" sz="1400" b="1" dirty="0">
                <a:solidFill>
                  <a:srgbClr val="1A3A52"/>
                </a:solidFill>
                <a:latin typeface="Georgia" pitchFamily="34" charset="0"/>
                <a:ea typeface="Georgia" pitchFamily="34" charset="-122"/>
                <a:cs typeface="Georgia" pitchFamily="34" charset="-120"/>
              </a:rPr>
              <a:t>Groq AI</a:t>
            </a:r>
            <a:endParaRPr lang="en-US" sz="1400" dirty="0"/>
          </a:p>
        </p:txBody>
      </p:sp>
      <p:sp>
        <p:nvSpPr>
          <p:cNvPr id="28" name="Text 23"/>
          <p:cNvSpPr/>
          <p:nvPr/>
        </p:nvSpPr>
        <p:spPr>
          <a:xfrm>
            <a:off x="1554480" y="3438144"/>
            <a:ext cx="2606040" cy="256032"/>
          </a:xfrm>
          <a:prstGeom prst="rect">
            <a:avLst/>
          </a:prstGeom>
          <a:noFill/>
          <a:ln/>
        </p:spPr>
        <p:txBody>
          <a:bodyPr wrap="square" lIns="0" tIns="0" rIns="0" bIns="0" rtlCol="0" anchor="ctr"/>
          <a:lstStyle/>
          <a:p>
            <a:pPr marL="0" indent="0">
              <a:buNone/>
            </a:pPr>
            <a:r>
              <a:rPr lang="en-US" sz="1000" dirty="0">
                <a:solidFill>
                  <a:srgbClr val="3A6E94"/>
                </a:solidFill>
              </a:rPr>
              <a:t>Llama 3.3 · Whisper</a:t>
            </a:r>
            <a:endParaRPr lang="en-US" sz="1000" dirty="0"/>
          </a:p>
        </p:txBody>
      </p:sp>
      <p:sp>
        <p:nvSpPr>
          <p:cNvPr id="29" name="Shape 24"/>
          <p:cNvSpPr/>
          <p:nvPr/>
        </p:nvSpPr>
        <p:spPr>
          <a:xfrm>
            <a:off x="475488" y="3675888"/>
            <a:ext cx="91440" cy="310896"/>
          </a:xfrm>
          <a:prstGeom prst="rect">
            <a:avLst/>
          </a:prstGeom>
          <a:solidFill>
            <a:srgbClr val="9ECAE1">
              <a:alpha val="70000"/>
            </a:srgbClr>
          </a:solidFill>
          <a:ln w="12700">
            <a:solidFill>
              <a:srgbClr val="9ECAE1"/>
            </a:solidFill>
            <a:prstDash val="solid"/>
          </a:ln>
        </p:spPr>
        <p:txBody>
          <a:bodyPr/>
          <a:lstStyle/>
          <a:p>
            <a:endParaRPr lang="en-IN"/>
          </a:p>
        </p:txBody>
      </p:sp>
      <p:sp>
        <p:nvSpPr>
          <p:cNvPr id="30" name="Shape 25"/>
          <p:cNvSpPr/>
          <p:nvPr/>
        </p:nvSpPr>
        <p:spPr>
          <a:xfrm>
            <a:off x="256032" y="4133088"/>
            <a:ext cx="530352" cy="530352"/>
          </a:xfrm>
          <a:prstGeom prst="ellipse">
            <a:avLst/>
          </a:prstGeom>
          <a:solidFill>
            <a:srgbClr val="6BAED6"/>
          </a:solidFill>
          <a:ln w="12700">
            <a:solidFill>
              <a:srgbClr val="6BAED6"/>
            </a:solidFill>
            <a:prstDash val="solid"/>
          </a:ln>
        </p:spPr>
        <p:txBody>
          <a:bodyPr/>
          <a:lstStyle/>
          <a:p>
            <a:endParaRPr lang="en-IN"/>
          </a:p>
        </p:txBody>
      </p:sp>
      <p:sp>
        <p:nvSpPr>
          <p:cNvPr id="31" name="Text 26"/>
          <p:cNvSpPr/>
          <p:nvPr/>
        </p:nvSpPr>
        <p:spPr>
          <a:xfrm>
            <a:off x="256032" y="4133088"/>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32" name="Shape 27"/>
          <p:cNvSpPr/>
          <p:nvPr/>
        </p:nvSpPr>
        <p:spPr>
          <a:xfrm>
            <a:off x="932688" y="3986784"/>
            <a:ext cx="3337560" cy="804672"/>
          </a:xfrm>
          <a:prstGeom prst="rect">
            <a:avLst/>
          </a:prstGeom>
          <a:solidFill>
            <a:srgbClr val="E8F4FB"/>
          </a:solidFill>
          <a:ln w="6350">
            <a:solidFill>
              <a:srgbClr val="D0E9F7"/>
            </a:solidFill>
            <a:prstDash val="solid"/>
          </a:ln>
        </p:spPr>
        <p:txBody>
          <a:bodyPr/>
          <a:lstStyle/>
          <a:p>
            <a:endParaRPr lang="en-IN"/>
          </a:p>
        </p:txBody>
      </p:sp>
      <p:sp>
        <p:nvSpPr>
          <p:cNvPr id="33" name="Shape 28"/>
          <p:cNvSpPr/>
          <p:nvPr/>
        </p:nvSpPr>
        <p:spPr>
          <a:xfrm>
            <a:off x="932688" y="3986784"/>
            <a:ext cx="64008" cy="804672"/>
          </a:xfrm>
          <a:prstGeom prst="rect">
            <a:avLst/>
          </a:prstGeom>
          <a:solidFill>
            <a:srgbClr val="6BAED6"/>
          </a:solidFill>
          <a:ln w="12700">
            <a:solidFill>
              <a:srgbClr val="6BAED6"/>
            </a:solidFill>
            <a:prstDash val="solid"/>
          </a:ln>
        </p:spPr>
        <p:txBody>
          <a:bodyPr/>
          <a:lstStyle/>
          <a:p>
            <a:endParaRPr lang="en-IN"/>
          </a:p>
        </p:txBody>
      </p:sp>
      <p:pic>
        <p:nvPicPr>
          <p:cNvPr id="34" name="Image 3" descr="preencoded.png"/>
          <p:cNvPicPr>
            <a:picLocks noChangeAspect="1"/>
          </p:cNvPicPr>
          <p:nvPr/>
        </p:nvPicPr>
        <p:blipFill>
          <a:blip r:embed="rId6"/>
          <a:stretch>
            <a:fillRect/>
          </a:stretch>
        </p:blipFill>
        <p:spPr>
          <a:xfrm>
            <a:off x="1097280" y="4187952"/>
            <a:ext cx="347472" cy="347472"/>
          </a:xfrm>
          <a:prstGeom prst="rect">
            <a:avLst/>
          </a:prstGeom>
        </p:spPr>
      </p:pic>
      <p:sp>
        <p:nvSpPr>
          <p:cNvPr id="35" name="Text 29"/>
          <p:cNvSpPr/>
          <p:nvPr/>
        </p:nvSpPr>
        <p:spPr>
          <a:xfrm>
            <a:off x="1554480" y="4078224"/>
            <a:ext cx="2606040" cy="320040"/>
          </a:xfrm>
          <a:prstGeom prst="rect">
            <a:avLst/>
          </a:prstGeom>
          <a:noFill/>
          <a:ln/>
        </p:spPr>
        <p:txBody>
          <a:bodyPr wrap="square" lIns="0" tIns="0" rIns="0" bIns="0" rtlCol="0" anchor="ctr"/>
          <a:lstStyle/>
          <a:p>
            <a:pPr marL="0" indent="0">
              <a:buNone/>
            </a:pPr>
            <a:r>
              <a:rPr lang="en-US" sz="1400" b="1" dirty="0">
                <a:solidFill>
                  <a:srgbClr val="1A3A52"/>
                </a:solidFill>
                <a:latin typeface="Georgia" pitchFamily="34" charset="0"/>
                <a:ea typeface="Georgia" pitchFamily="34" charset="-122"/>
                <a:cs typeface="Georgia" pitchFamily="34" charset="-120"/>
              </a:rPr>
              <a:t>Dual Storage</a:t>
            </a:r>
            <a:endParaRPr lang="en-US" sz="1400" dirty="0"/>
          </a:p>
        </p:txBody>
      </p:sp>
      <p:sp>
        <p:nvSpPr>
          <p:cNvPr id="36" name="Text 30"/>
          <p:cNvSpPr/>
          <p:nvPr/>
        </p:nvSpPr>
        <p:spPr>
          <a:xfrm>
            <a:off x="1554480" y="4425696"/>
            <a:ext cx="2606040" cy="256032"/>
          </a:xfrm>
          <a:prstGeom prst="rect">
            <a:avLst/>
          </a:prstGeom>
          <a:noFill/>
          <a:ln/>
        </p:spPr>
        <p:txBody>
          <a:bodyPr wrap="square" lIns="0" tIns="0" rIns="0" bIns="0" rtlCol="0" anchor="ctr"/>
          <a:lstStyle/>
          <a:p>
            <a:pPr marL="0" indent="0">
              <a:buNone/>
            </a:pPr>
            <a:r>
              <a:rPr lang="en-US" sz="1000" dirty="0">
                <a:solidFill>
                  <a:srgbClr val="3A6E94"/>
                </a:solidFill>
              </a:rPr>
              <a:t>SQLite + ChromaDB vectors</a:t>
            </a:r>
            <a:endParaRPr lang="en-US" sz="1000" dirty="0"/>
          </a:p>
        </p:txBody>
      </p:sp>
      <p:sp>
        <p:nvSpPr>
          <p:cNvPr id="37" name="Shape 31"/>
          <p:cNvSpPr/>
          <p:nvPr/>
        </p:nvSpPr>
        <p:spPr>
          <a:xfrm>
            <a:off x="4663440" y="1005840"/>
            <a:ext cx="4206240" cy="1188720"/>
          </a:xfrm>
          <a:prstGeom prst="rect">
            <a:avLst/>
          </a:prstGeom>
          <a:solidFill>
            <a:srgbClr val="E8F4FB"/>
          </a:solidFill>
          <a:ln w="6350">
            <a:solidFill>
              <a:srgbClr val="D0E9F7"/>
            </a:solidFill>
            <a:prstDash val="solid"/>
          </a:ln>
        </p:spPr>
        <p:txBody>
          <a:bodyPr/>
          <a:lstStyle/>
          <a:p>
            <a:endParaRPr lang="en-IN"/>
          </a:p>
        </p:txBody>
      </p:sp>
      <p:sp>
        <p:nvSpPr>
          <p:cNvPr id="38" name="Shape 32"/>
          <p:cNvSpPr/>
          <p:nvPr/>
        </p:nvSpPr>
        <p:spPr>
          <a:xfrm>
            <a:off x="4663440" y="1005840"/>
            <a:ext cx="4206240" cy="73152"/>
          </a:xfrm>
          <a:prstGeom prst="rect">
            <a:avLst/>
          </a:prstGeom>
          <a:solidFill>
            <a:srgbClr val="6BAED6"/>
          </a:solidFill>
          <a:ln w="12700">
            <a:solidFill>
              <a:srgbClr val="6BAED6"/>
            </a:solidFill>
            <a:prstDash val="solid"/>
          </a:ln>
        </p:spPr>
        <p:txBody>
          <a:bodyPr/>
          <a:lstStyle/>
          <a:p>
            <a:endParaRPr lang="en-IN"/>
          </a:p>
        </p:txBody>
      </p:sp>
      <p:sp>
        <p:nvSpPr>
          <p:cNvPr id="39" name="Shape 33"/>
          <p:cNvSpPr/>
          <p:nvPr/>
        </p:nvSpPr>
        <p:spPr>
          <a:xfrm>
            <a:off x="4736592" y="1133856"/>
            <a:ext cx="256032" cy="256032"/>
          </a:xfrm>
          <a:prstGeom prst="ellipse">
            <a:avLst/>
          </a:prstGeom>
          <a:solidFill>
            <a:srgbClr val="6BAED6"/>
          </a:solidFill>
          <a:ln w="12700">
            <a:solidFill>
              <a:srgbClr val="6BAED6"/>
            </a:solidFill>
            <a:prstDash val="solid"/>
          </a:ln>
        </p:spPr>
        <p:txBody>
          <a:bodyPr/>
          <a:lstStyle/>
          <a:p>
            <a:endParaRPr lang="en-IN"/>
          </a:p>
        </p:txBody>
      </p:sp>
      <p:sp>
        <p:nvSpPr>
          <p:cNvPr id="40" name="Text 34"/>
          <p:cNvSpPr/>
          <p:nvPr/>
        </p:nvSpPr>
        <p:spPr>
          <a:xfrm>
            <a:off x="4736592" y="1133856"/>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rPr>
              <a:t>1</a:t>
            </a:r>
            <a:endParaRPr lang="en-US" sz="900" dirty="0"/>
          </a:p>
        </p:txBody>
      </p:sp>
      <p:sp>
        <p:nvSpPr>
          <p:cNvPr id="41" name="Text 35"/>
          <p:cNvSpPr/>
          <p:nvPr/>
        </p:nvSpPr>
        <p:spPr>
          <a:xfrm>
            <a:off x="5084064" y="1097280"/>
            <a:ext cx="3657600" cy="292608"/>
          </a:xfrm>
          <a:prstGeom prst="rect">
            <a:avLst/>
          </a:prstGeom>
          <a:noFill/>
          <a:ln/>
        </p:spPr>
        <p:txBody>
          <a:bodyPr wrap="square" lIns="0" tIns="0" rIns="0" bIns="0" rtlCol="0" anchor="ctr"/>
          <a:lstStyle/>
          <a:p>
            <a:pPr marL="0" indent="0">
              <a:buNone/>
            </a:pPr>
            <a:r>
              <a:rPr lang="en-US" sz="1200" b="1" dirty="0">
                <a:solidFill>
                  <a:srgbClr val="6BAED6"/>
                </a:solidFill>
                <a:latin typeface="Georgia" pitchFamily="34" charset="0"/>
                <a:ea typeface="Georgia" pitchFamily="34" charset="-122"/>
                <a:cs typeface="Georgia" pitchFamily="34" charset="-120"/>
              </a:rPr>
              <a:t>Thought Write Path</a:t>
            </a:r>
            <a:endParaRPr lang="en-US" sz="1200" dirty="0"/>
          </a:p>
        </p:txBody>
      </p:sp>
      <p:sp>
        <p:nvSpPr>
          <p:cNvPr id="42" name="Text 36"/>
          <p:cNvSpPr/>
          <p:nvPr/>
        </p:nvSpPr>
        <p:spPr>
          <a:xfrm>
            <a:off x="4736592" y="1444752"/>
            <a:ext cx="4005072" cy="658368"/>
          </a:xfrm>
          <a:prstGeom prst="rect">
            <a:avLst/>
          </a:prstGeom>
          <a:noFill/>
          <a:ln/>
        </p:spPr>
        <p:txBody>
          <a:bodyPr wrap="square" lIns="0" tIns="0" rIns="0" bIns="0" rtlCol="0" anchor="ctr"/>
          <a:lstStyle/>
          <a:p>
            <a:pPr marL="0" indent="0">
              <a:buNone/>
            </a:pPr>
            <a:r>
              <a:rPr lang="en-US" sz="950" dirty="0">
                <a:solidFill>
                  <a:srgbClr val="3A6E94"/>
                </a:solidFill>
              </a:rPr>
              <a:t>Add thought → Groq extracts tags + emotion → SQLite stores structured data → ChromaDB stores vector embedding for semantic search</a:t>
            </a:r>
            <a:endParaRPr lang="en-US" sz="950" dirty="0"/>
          </a:p>
        </p:txBody>
      </p:sp>
      <p:sp>
        <p:nvSpPr>
          <p:cNvPr id="43" name="Shape 37"/>
          <p:cNvSpPr/>
          <p:nvPr/>
        </p:nvSpPr>
        <p:spPr>
          <a:xfrm>
            <a:off x="4663440" y="2359152"/>
            <a:ext cx="4206240" cy="1188720"/>
          </a:xfrm>
          <a:prstGeom prst="rect">
            <a:avLst/>
          </a:prstGeom>
          <a:solidFill>
            <a:srgbClr val="FFFFFF"/>
          </a:solidFill>
          <a:ln w="6350">
            <a:solidFill>
              <a:srgbClr val="D0E9F7"/>
            </a:solidFill>
            <a:prstDash val="solid"/>
          </a:ln>
        </p:spPr>
        <p:txBody>
          <a:bodyPr/>
          <a:lstStyle/>
          <a:p>
            <a:endParaRPr lang="en-IN"/>
          </a:p>
        </p:txBody>
      </p:sp>
      <p:sp>
        <p:nvSpPr>
          <p:cNvPr id="44" name="Shape 38"/>
          <p:cNvSpPr/>
          <p:nvPr/>
        </p:nvSpPr>
        <p:spPr>
          <a:xfrm>
            <a:off x="4663440" y="2359152"/>
            <a:ext cx="4206240" cy="73152"/>
          </a:xfrm>
          <a:prstGeom prst="rect">
            <a:avLst/>
          </a:prstGeom>
          <a:solidFill>
            <a:srgbClr val="6BAED6"/>
          </a:solidFill>
          <a:ln w="12700">
            <a:solidFill>
              <a:srgbClr val="6BAED6"/>
            </a:solidFill>
            <a:prstDash val="solid"/>
          </a:ln>
        </p:spPr>
        <p:txBody>
          <a:bodyPr/>
          <a:lstStyle/>
          <a:p>
            <a:endParaRPr lang="en-IN"/>
          </a:p>
        </p:txBody>
      </p:sp>
      <p:sp>
        <p:nvSpPr>
          <p:cNvPr id="45" name="Shape 39"/>
          <p:cNvSpPr/>
          <p:nvPr/>
        </p:nvSpPr>
        <p:spPr>
          <a:xfrm>
            <a:off x="4736592" y="2487168"/>
            <a:ext cx="256032" cy="256032"/>
          </a:xfrm>
          <a:prstGeom prst="ellipse">
            <a:avLst/>
          </a:prstGeom>
          <a:solidFill>
            <a:srgbClr val="6BAED6"/>
          </a:solidFill>
          <a:ln w="12700">
            <a:solidFill>
              <a:srgbClr val="6BAED6"/>
            </a:solidFill>
            <a:prstDash val="solid"/>
          </a:ln>
        </p:spPr>
        <p:txBody>
          <a:bodyPr/>
          <a:lstStyle/>
          <a:p>
            <a:endParaRPr lang="en-IN"/>
          </a:p>
        </p:txBody>
      </p:sp>
      <p:sp>
        <p:nvSpPr>
          <p:cNvPr id="46" name="Text 40"/>
          <p:cNvSpPr/>
          <p:nvPr/>
        </p:nvSpPr>
        <p:spPr>
          <a:xfrm>
            <a:off x="4736592" y="2487168"/>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rPr>
              <a:t>2</a:t>
            </a:r>
            <a:endParaRPr lang="en-US" sz="900" dirty="0"/>
          </a:p>
        </p:txBody>
      </p:sp>
      <p:sp>
        <p:nvSpPr>
          <p:cNvPr id="47" name="Text 41"/>
          <p:cNvSpPr/>
          <p:nvPr/>
        </p:nvSpPr>
        <p:spPr>
          <a:xfrm>
            <a:off x="5084064" y="2450592"/>
            <a:ext cx="3657600" cy="292608"/>
          </a:xfrm>
          <a:prstGeom prst="rect">
            <a:avLst/>
          </a:prstGeom>
          <a:noFill/>
          <a:ln/>
        </p:spPr>
        <p:txBody>
          <a:bodyPr wrap="square" lIns="0" tIns="0" rIns="0" bIns="0" rtlCol="0" anchor="ctr"/>
          <a:lstStyle/>
          <a:p>
            <a:pPr marL="0" indent="0">
              <a:buNone/>
            </a:pPr>
            <a:r>
              <a:rPr lang="en-US" sz="1200" b="1" dirty="0">
                <a:solidFill>
                  <a:srgbClr val="6BAED6"/>
                </a:solidFill>
                <a:latin typeface="Georgia" pitchFamily="34" charset="0"/>
                <a:ea typeface="Georgia" pitchFamily="34" charset="-122"/>
                <a:cs typeface="Georgia" pitchFamily="34" charset="-120"/>
              </a:rPr>
              <a:t>AI Chat (RAG) Path</a:t>
            </a:r>
            <a:endParaRPr lang="en-US" sz="1200" dirty="0"/>
          </a:p>
        </p:txBody>
      </p:sp>
      <p:sp>
        <p:nvSpPr>
          <p:cNvPr id="48" name="Text 42"/>
          <p:cNvSpPr/>
          <p:nvPr/>
        </p:nvSpPr>
        <p:spPr>
          <a:xfrm>
            <a:off x="4736592" y="2798064"/>
            <a:ext cx="4005072" cy="658368"/>
          </a:xfrm>
          <a:prstGeom prst="rect">
            <a:avLst/>
          </a:prstGeom>
          <a:noFill/>
          <a:ln/>
        </p:spPr>
        <p:txBody>
          <a:bodyPr wrap="square" lIns="0" tIns="0" rIns="0" bIns="0" rtlCol="0" anchor="ctr"/>
          <a:lstStyle/>
          <a:p>
            <a:pPr marL="0" indent="0">
              <a:buNone/>
            </a:pPr>
            <a:r>
              <a:rPr lang="en-US" sz="950" dirty="0">
                <a:solidFill>
                  <a:srgbClr val="3A6E94"/>
                </a:solidFill>
              </a:rPr>
              <a:t>Question → ChromaDB semantic search → top 10 similar thoughts → 3× Groq calls: main answer + connections + extended idea with action</a:t>
            </a:r>
            <a:endParaRPr lang="en-US" sz="950" dirty="0"/>
          </a:p>
        </p:txBody>
      </p:sp>
      <p:sp>
        <p:nvSpPr>
          <p:cNvPr id="49" name="Shape 43"/>
          <p:cNvSpPr/>
          <p:nvPr/>
        </p:nvSpPr>
        <p:spPr>
          <a:xfrm>
            <a:off x="4663440" y="3712464"/>
            <a:ext cx="4206240" cy="1188720"/>
          </a:xfrm>
          <a:prstGeom prst="rect">
            <a:avLst/>
          </a:prstGeom>
          <a:solidFill>
            <a:srgbClr val="E8F4FB"/>
          </a:solidFill>
          <a:ln w="6350">
            <a:solidFill>
              <a:srgbClr val="D0E9F7"/>
            </a:solidFill>
            <a:prstDash val="solid"/>
          </a:ln>
        </p:spPr>
        <p:txBody>
          <a:bodyPr/>
          <a:lstStyle/>
          <a:p>
            <a:endParaRPr lang="en-IN"/>
          </a:p>
        </p:txBody>
      </p:sp>
      <p:sp>
        <p:nvSpPr>
          <p:cNvPr id="50" name="Shape 44"/>
          <p:cNvSpPr/>
          <p:nvPr/>
        </p:nvSpPr>
        <p:spPr>
          <a:xfrm>
            <a:off x="4663440" y="3712464"/>
            <a:ext cx="4206240" cy="73152"/>
          </a:xfrm>
          <a:prstGeom prst="rect">
            <a:avLst/>
          </a:prstGeom>
          <a:solidFill>
            <a:srgbClr val="6BAED6"/>
          </a:solidFill>
          <a:ln w="12700">
            <a:solidFill>
              <a:srgbClr val="6BAED6"/>
            </a:solidFill>
            <a:prstDash val="solid"/>
          </a:ln>
        </p:spPr>
        <p:txBody>
          <a:bodyPr/>
          <a:lstStyle/>
          <a:p>
            <a:endParaRPr lang="en-IN"/>
          </a:p>
        </p:txBody>
      </p:sp>
      <p:sp>
        <p:nvSpPr>
          <p:cNvPr id="51" name="Shape 45"/>
          <p:cNvSpPr/>
          <p:nvPr/>
        </p:nvSpPr>
        <p:spPr>
          <a:xfrm>
            <a:off x="4736592" y="3840480"/>
            <a:ext cx="256032" cy="256032"/>
          </a:xfrm>
          <a:prstGeom prst="ellipse">
            <a:avLst/>
          </a:prstGeom>
          <a:solidFill>
            <a:srgbClr val="6BAED6"/>
          </a:solidFill>
          <a:ln w="12700">
            <a:solidFill>
              <a:srgbClr val="6BAED6"/>
            </a:solidFill>
            <a:prstDash val="solid"/>
          </a:ln>
        </p:spPr>
        <p:txBody>
          <a:bodyPr/>
          <a:lstStyle/>
          <a:p>
            <a:endParaRPr lang="en-IN"/>
          </a:p>
        </p:txBody>
      </p:sp>
      <p:sp>
        <p:nvSpPr>
          <p:cNvPr id="52" name="Text 46"/>
          <p:cNvSpPr/>
          <p:nvPr/>
        </p:nvSpPr>
        <p:spPr>
          <a:xfrm>
            <a:off x="4736592" y="3840480"/>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rPr>
              <a:t>3</a:t>
            </a:r>
            <a:endParaRPr lang="en-US" sz="900" dirty="0"/>
          </a:p>
        </p:txBody>
      </p:sp>
      <p:sp>
        <p:nvSpPr>
          <p:cNvPr id="53" name="Text 47"/>
          <p:cNvSpPr/>
          <p:nvPr/>
        </p:nvSpPr>
        <p:spPr>
          <a:xfrm>
            <a:off x="5084064" y="3803904"/>
            <a:ext cx="3657600" cy="292608"/>
          </a:xfrm>
          <a:prstGeom prst="rect">
            <a:avLst/>
          </a:prstGeom>
          <a:noFill/>
          <a:ln/>
        </p:spPr>
        <p:txBody>
          <a:bodyPr wrap="square" lIns="0" tIns="0" rIns="0" bIns="0" rtlCol="0" anchor="ctr"/>
          <a:lstStyle/>
          <a:p>
            <a:pPr marL="0" indent="0">
              <a:buNone/>
            </a:pPr>
            <a:r>
              <a:rPr lang="en-US" sz="1200" b="1" dirty="0">
                <a:solidFill>
                  <a:srgbClr val="6BAED6"/>
                </a:solidFill>
                <a:latin typeface="Georgia" pitchFamily="34" charset="0"/>
                <a:ea typeface="Georgia" pitchFamily="34" charset="-122"/>
                <a:cs typeface="Georgia" pitchFamily="34" charset="-120"/>
              </a:rPr>
              <a:t>Audio Transcription</a:t>
            </a:r>
            <a:endParaRPr lang="en-US" sz="1200" dirty="0"/>
          </a:p>
        </p:txBody>
      </p:sp>
      <p:sp>
        <p:nvSpPr>
          <p:cNvPr id="54" name="Text 48"/>
          <p:cNvSpPr/>
          <p:nvPr/>
        </p:nvSpPr>
        <p:spPr>
          <a:xfrm>
            <a:off x="4736592" y="4151376"/>
            <a:ext cx="4005072" cy="658368"/>
          </a:xfrm>
          <a:prstGeom prst="rect">
            <a:avLst/>
          </a:prstGeom>
          <a:noFill/>
          <a:ln/>
        </p:spPr>
        <p:txBody>
          <a:bodyPr wrap="square" lIns="0" tIns="0" rIns="0" bIns="0" rtlCol="0" anchor="ctr"/>
          <a:lstStyle/>
          <a:p>
            <a:pPr marL="0" indent="0">
              <a:buNone/>
            </a:pPr>
            <a:r>
              <a:rPr lang="en-US" sz="950" dirty="0">
                <a:solidFill>
                  <a:srgbClr val="3A6E94"/>
                </a:solidFill>
              </a:rPr>
              <a:t>Browser records webm → base64 sent to API → ffmpeg strips video track → 16kHz WAV audio → Groq Whisper large-v3 → text transcript</a:t>
            </a:r>
            <a:endParaRPr lang="en-US" sz="950" dirty="0"/>
          </a:p>
        </p:txBody>
      </p:sp>
      <p:sp>
        <p:nvSpPr>
          <p:cNvPr id="55" name="Shape 49"/>
          <p:cNvSpPr/>
          <p:nvPr/>
        </p:nvSpPr>
        <p:spPr>
          <a:xfrm>
            <a:off x="0" y="4773168"/>
            <a:ext cx="9144000" cy="370332"/>
          </a:xfrm>
          <a:prstGeom prst="rect">
            <a:avLst/>
          </a:prstGeom>
          <a:solidFill>
            <a:srgbClr val="D0E9F7"/>
          </a:solidFill>
          <a:ln w="12700">
            <a:solidFill>
              <a:srgbClr val="D0E9F7"/>
            </a:solidFill>
            <a:prstDash val="solid"/>
          </a:ln>
        </p:spPr>
        <p:txBody>
          <a:bodyPr/>
          <a:lstStyle/>
          <a:p>
            <a:endParaRPr lang="en-IN"/>
          </a:p>
        </p:txBody>
      </p:sp>
      <p:sp>
        <p:nvSpPr>
          <p:cNvPr id="56" name="Text 50"/>
          <p:cNvSpPr/>
          <p:nvPr/>
        </p:nvSpPr>
        <p:spPr>
          <a:xfrm>
            <a:off x="0" y="4773168"/>
            <a:ext cx="9144000" cy="370332"/>
          </a:xfrm>
          <a:prstGeom prst="rect">
            <a:avLst/>
          </a:prstGeom>
          <a:noFill/>
          <a:ln/>
        </p:spPr>
        <p:txBody>
          <a:bodyPr wrap="square" lIns="0" tIns="0" rIns="0" bIns="0" rtlCol="0" anchor="ctr"/>
          <a:lstStyle/>
          <a:p>
            <a:pPr marL="0" indent="0" algn="ctr">
              <a:buNone/>
            </a:pPr>
            <a:r>
              <a:rPr lang="en-US" sz="950" i="1" dirty="0">
                <a:solidFill>
                  <a:srgbClr val="3A6E94"/>
                </a:solidFill>
              </a:rPr>
              <a:t>Every thought is stored in SQLite (structured) AND ChromaDB (semantic vectors) simultaneously</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0F6FF"/>
        </a:solidFill>
        <a:effectLst/>
      </p:bgPr>
    </p:bg>
    <p:spTree>
      <p:nvGrpSpPr>
        <p:cNvPr id="1" name=""/>
        <p:cNvGrpSpPr/>
        <p:nvPr/>
      </p:nvGrpSpPr>
      <p:grpSpPr>
        <a:xfrm>
          <a:off x="0" y="0"/>
          <a:ext cx="0" cy="0"/>
          <a:chOff x="0" y="0"/>
          <a:chExt cx="0" cy="0"/>
        </a:xfrm>
      </p:grpSpPr>
      <p:sp>
        <p:nvSpPr>
          <p:cNvPr id="2" name="HeaderBar"/>
          <p:cNvSpPr/>
          <p:nvPr/>
        </p:nvSpPr>
        <p:spPr>
          <a:xfrm>
            <a:off x="0" y="0"/>
            <a:ext cx="9144000" cy="914400"/>
          </a:xfrm>
          <a:prstGeom prst="rect">
            <a:avLst/>
          </a:prstGeom>
          <a:solidFill>
            <a:srgbClr val="6BAED6"/>
          </a:solidFill>
          <a:ln>
            <a:noFill/>
          </a:ln>
        </p:spPr>
        <p:txBody>
          <a:bodyPr/>
          <a:lstStyle/>
          <a:p>
            <a:endParaRPr>
              <a:solidFill>
                <a:srgbClr val="6BAED6"/>
              </a:solidFill>
            </a:endParaRPr>
          </a:p>
        </p:txBody>
      </p:sp>
      <p:sp>
        <p:nvSpPr>
          <p:cNvPr id="4" name="Title"/>
          <p:cNvSpPr/>
          <p:nvPr/>
        </p:nvSpPr>
        <p:spPr>
          <a:xfrm>
            <a:off x="247650" y="114300"/>
            <a:ext cx="5823366" cy="685800"/>
          </a:xfrm>
          <a:prstGeom prst="rect">
            <a:avLst/>
          </a:prstGeom>
          <a:noFill/>
          <a:ln>
            <a:noFill/>
          </a:ln>
        </p:spPr>
        <p:txBody>
          <a:bodyPr wrap="square" lIns="0" tIns="0" rIns="0" bIns="0" anchor="ctr"/>
          <a:lstStyle/>
          <a:p>
            <a:pPr marL="0" indent="0">
              <a:buNone/>
            </a:pPr>
            <a:r>
              <a:rPr lang="en-US" sz="2800" b="1" dirty="0">
                <a:solidFill>
                  <a:srgbClr val="FFFFFF"/>
                </a:solidFill>
                <a:latin typeface="Georgia" pitchFamily="34" charset="0"/>
              </a:rPr>
              <a:t>Problem &amp; Solution</a:t>
            </a:r>
          </a:p>
        </p:txBody>
      </p:sp>
      <p:sp>
        <p:nvSpPr>
          <p:cNvPr id="5" name="Subtitle"/>
          <p:cNvSpPr/>
          <p:nvPr/>
        </p:nvSpPr>
        <p:spPr>
          <a:xfrm>
            <a:off x="6400000" y="114300"/>
            <a:ext cx="2591600" cy="685800"/>
          </a:xfrm>
          <a:prstGeom prst="rect">
            <a:avLst/>
          </a:prstGeom>
          <a:noFill/>
          <a:ln>
            <a:noFill/>
          </a:ln>
        </p:spPr>
        <p:txBody>
          <a:bodyPr wrap="square" lIns="0" tIns="0" rIns="0" bIns="0" anchor="ctr"/>
          <a:lstStyle/>
          <a:p>
            <a:pPr algn="r">
              <a:buNone/>
            </a:pPr>
            <a:r>
              <a:rPr lang="en-US" sz="900" i="1" dirty="0">
                <a:solidFill>
                  <a:srgbClr val="E8F4FB"/>
                </a:solidFill>
              </a:rPr>
              <a:t>Why EchoMind exists</a:t>
            </a:r>
          </a:p>
        </p:txBody>
      </p:sp>
      <p:sp>
        <p:nvSpPr>
          <p:cNvPr id="6" name="ProbHeader"/>
          <p:cNvSpPr/>
          <p:nvPr/>
        </p:nvSpPr>
        <p:spPr>
          <a:xfrm>
            <a:off x="152400" y="990600"/>
            <a:ext cx="4114800" cy="330200"/>
          </a:xfrm>
          <a:prstGeom prst="rect">
            <a:avLst/>
          </a:prstGeom>
          <a:solidFill>
            <a:srgbClr val="6BAED6"/>
          </a:solidFill>
          <a:ln>
            <a:noFill/>
          </a:ln>
        </p:spPr>
        <p:txBody>
          <a:bodyPr anchor="ctr"/>
          <a:lstStyle/>
          <a:p>
            <a:pPr algn="ctr">
              <a:buNone/>
            </a:pPr>
            <a:r>
              <a:rPr lang="en-US" sz="1100" b="1" spc="200" dirty="0">
                <a:solidFill>
                  <a:srgbClr val="FFFFFF"/>
                </a:solidFill>
              </a:rPr>
              <a:t>THE PROBLEM</a:t>
            </a:r>
          </a:p>
        </p:txBody>
      </p:sp>
      <p:sp>
        <p:nvSpPr>
          <p:cNvPr id="7" name="ProbCard1"/>
          <p:cNvSpPr/>
          <p:nvPr/>
        </p:nvSpPr>
        <p:spPr>
          <a:xfrm>
            <a:off x="158021" y="1396661"/>
            <a:ext cx="4114800" cy="952500"/>
          </a:xfrm>
          <a:prstGeom prst="rect">
            <a:avLst/>
          </a:prstGeom>
          <a:solidFill>
            <a:srgbClr val="FFFFFF"/>
          </a:solidFill>
          <a:ln w="12700">
            <a:solidFill>
              <a:srgbClr val="D0E9F7"/>
            </a:solidFill>
          </a:ln>
        </p:spPr>
        <p:txBody>
          <a:bodyPr/>
          <a:lstStyle/>
          <a:p>
            <a:endParaRPr/>
          </a:p>
        </p:txBody>
      </p:sp>
      <p:sp>
        <p:nvSpPr>
          <p:cNvPr id="8" name="ProbIconCircle1"/>
          <p:cNvSpPr/>
          <p:nvPr/>
        </p:nvSpPr>
        <p:spPr>
          <a:xfrm>
            <a:off x="228600" y="1586264"/>
            <a:ext cx="571500" cy="571500"/>
          </a:xfrm>
          <a:prstGeom prst="ellipse">
            <a:avLst/>
          </a:prstGeom>
          <a:solidFill>
            <a:srgbClr val="D0E9F7"/>
          </a:solidFill>
          <a:ln>
            <a:noFill/>
          </a:ln>
        </p:spPr>
        <p:txBody>
          <a:bodyPr anchor="ctr"/>
          <a:lstStyle/>
          <a:p>
            <a:pPr algn="ctr">
              <a:buNone/>
            </a:pPr>
            <a:r>
              <a:rPr lang="en-US" sz="1800" dirty="0">
                <a:solidFill>
                  <a:srgbClr val="3A6E94"/>
                </a:solidFill>
              </a:rPr>
              <a:t>1</a:t>
            </a:r>
          </a:p>
        </p:txBody>
      </p:sp>
      <p:sp>
        <p:nvSpPr>
          <p:cNvPr id="9" name="ProbText1"/>
          <p:cNvSpPr/>
          <p:nvPr/>
        </p:nvSpPr>
        <p:spPr>
          <a:xfrm>
            <a:off x="876300" y="1586264"/>
            <a:ext cx="3314700" cy="844362"/>
          </a:xfrm>
          <a:prstGeom prst="rect">
            <a:avLst/>
          </a:prstGeom>
          <a:noFill/>
          <a:ln>
            <a:noFill/>
          </a:ln>
        </p:spPr>
        <p:txBody>
          <a:bodyPr wrap="square" lIns="91440" tIns="45720" rIns="91440" bIns="45720"/>
          <a:lstStyle/>
          <a:p>
            <a:pPr>
              <a:buNone/>
            </a:pPr>
            <a:r>
              <a:rPr lang="en-US" sz="1300" b="1" dirty="0">
                <a:solidFill>
                  <a:srgbClr val="1A3A52"/>
                </a:solidFill>
              </a:rPr>
              <a:t>Scattered Thoughts</a:t>
            </a:r>
          </a:p>
          <a:p>
            <a:pPr>
              <a:buNone/>
            </a:pPr>
            <a:r>
              <a:rPr lang="en-US" sz="1000" dirty="0">
                <a:solidFill>
                  <a:srgbClr val="3A6E94"/>
                </a:solidFill>
              </a:rPr>
              <a:t>Ideas live across apps, notes, messages — impossible to find when you need them most.</a:t>
            </a:r>
          </a:p>
        </p:txBody>
      </p:sp>
      <p:sp>
        <p:nvSpPr>
          <p:cNvPr id="10" name="ProbCard2"/>
          <p:cNvSpPr/>
          <p:nvPr/>
        </p:nvSpPr>
        <p:spPr>
          <a:xfrm>
            <a:off x="152400" y="2461361"/>
            <a:ext cx="4114800" cy="952500"/>
          </a:xfrm>
          <a:prstGeom prst="rect">
            <a:avLst/>
          </a:prstGeom>
          <a:solidFill>
            <a:srgbClr val="FFFFFF"/>
          </a:solidFill>
          <a:ln w="12700">
            <a:solidFill>
              <a:srgbClr val="D0E9F7"/>
            </a:solidFill>
          </a:ln>
        </p:spPr>
        <p:txBody>
          <a:bodyPr/>
          <a:lstStyle/>
          <a:p>
            <a:endParaRPr/>
          </a:p>
        </p:txBody>
      </p:sp>
      <p:sp>
        <p:nvSpPr>
          <p:cNvPr id="11" name="ProbIconCircle2"/>
          <p:cNvSpPr/>
          <p:nvPr/>
        </p:nvSpPr>
        <p:spPr>
          <a:xfrm>
            <a:off x="228600" y="2612726"/>
            <a:ext cx="571500" cy="571500"/>
          </a:xfrm>
          <a:prstGeom prst="ellipse">
            <a:avLst/>
          </a:prstGeom>
          <a:solidFill>
            <a:srgbClr val="D0E9F7"/>
          </a:solidFill>
          <a:ln>
            <a:noFill/>
          </a:ln>
        </p:spPr>
        <p:txBody>
          <a:bodyPr anchor="ctr"/>
          <a:lstStyle/>
          <a:p>
            <a:pPr algn="ctr">
              <a:buNone/>
            </a:pPr>
            <a:r>
              <a:rPr lang="en-US" dirty="0">
                <a:solidFill>
                  <a:srgbClr val="3A6E94"/>
                </a:solidFill>
              </a:rPr>
              <a:t>2</a:t>
            </a:r>
            <a:endParaRPr lang="en-US" sz="1800" dirty="0">
              <a:solidFill>
                <a:srgbClr val="3A6E94"/>
              </a:solidFill>
            </a:endParaRPr>
          </a:p>
        </p:txBody>
      </p:sp>
      <p:sp>
        <p:nvSpPr>
          <p:cNvPr id="12" name="ProbText2"/>
          <p:cNvSpPr/>
          <p:nvPr/>
        </p:nvSpPr>
        <p:spPr>
          <a:xfrm>
            <a:off x="876300" y="2611558"/>
            <a:ext cx="3314700" cy="876300"/>
          </a:xfrm>
          <a:prstGeom prst="rect">
            <a:avLst/>
          </a:prstGeom>
          <a:noFill/>
          <a:ln>
            <a:noFill/>
          </a:ln>
        </p:spPr>
        <p:txBody>
          <a:bodyPr wrap="square" lIns="91440" tIns="45720" rIns="91440" bIns="45720"/>
          <a:lstStyle/>
          <a:p>
            <a:pPr>
              <a:buNone/>
            </a:pPr>
            <a:r>
              <a:rPr lang="en-US" sz="1300" b="1" dirty="0">
                <a:solidFill>
                  <a:srgbClr val="1A3A52"/>
                </a:solidFill>
              </a:rPr>
              <a:t>No Semantic Recall</a:t>
            </a:r>
          </a:p>
          <a:p>
            <a:pPr>
              <a:buNone/>
            </a:pPr>
            <a:r>
              <a:rPr lang="en-US" sz="1000" dirty="0">
                <a:solidFill>
                  <a:srgbClr val="3A6E94"/>
                </a:solidFill>
              </a:rPr>
              <a:t>Keyword search fails. You can’t find a thought by meaning, only by exact words remembered.</a:t>
            </a:r>
          </a:p>
        </p:txBody>
      </p:sp>
      <p:sp>
        <p:nvSpPr>
          <p:cNvPr id="13" name="ProbCard3"/>
          <p:cNvSpPr/>
          <p:nvPr/>
        </p:nvSpPr>
        <p:spPr>
          <a:xfrm>
            <a:off x="190500" y="3602566"/>
            <a:ext cx="4114800" cy="952500"/>
          </a:xfrm>
          <a:prstGeom prst="rect">
            <a:avLst/>
          </a:prstGeom>
          <a:solidFill>
            <a:srgbClr val="FFFFFF"/>
          </a:solidFill>
          <a:ln w="12700">
            <a:solidFill>
              <a:srgbClr val="D0E9F7"/>
            </a:solidFill>
          </a:ln>
        </p:spPr>
        <p:txBody>
          <a:bodyPr/>
          <a:lstStyle/>
          <a:p>
            <a:endParaRPr/>
          </a:p>
        </p:txBody>
      </p:sp>
      <p:sp>
        <p:nvSpPr>
          <p:cNvPr id="14" name="ProbIconCircle3"/>
          <p:cNvSpPr/>
          <p:nvPr/>
        </p:nvSpPr>
        <p:spPr>
          <a:xfrm>
            <a:off x="247650" y="3758658"/>
            <a:ext cx="571500" cy="571500"/>
          </a:xfrm>
          <a:prstGeom prst="ellipse">
            <a:avLst/>
          </a:prstGeom>
          <a:solidFill>
            <a:srgbClr val="D0E9F7"/>
          </a:solidFill>
          <a:ln>
            <a:noFill/>
          </a:ln>
        </p:spPr>
        <p:txBody>
          <a:bodyPr anchor="ctr"/>
          <a:lstStyle/>
          <a:p>
            <a:pPr algn="ctr">
              <a:buNone/>
            </a:pPr>
            <a:r>
              <a:rPr lang="en-US" dirty="0">
                <a:solidFill>
                  <a:srgbClr val="3A6E94"/>
                </a:solidFill>
              </a:rPr>
              <a:t>3</a:t>
            </a:r>
            <a:endParaRPr lang="en-US" sz="1800" dirty="0">
              <a:solidFill>
                <a:srgbClr val="3A6E94"/>
              </a:solidFill>
            </a:endParaRPr>
          </a:p>
        </p:txBody>
      </p:sp>
      <p:sp>
        <p:nvSpPr>
          <p:cNvPr id="15" name="ProbText3"/>
          <p:cNvSpPr/>
          <p:nvPr/>
        </p:nvSpPr>
        <p:spPr>
          <a:xfrm>
            <a:off x="876300" y="3709500"/>
            <a:ext cx="3314700" cy="876300"/>
          </a:xfrm>
          <a:prstGeom prst="rect">
            <a:avLst/>
          </a:prstGeom>
          <a:noFill/>
          <a:ln>
            <a:noFill/>
          </a:ln>
        </p:spPr>
        <p:txBody>
          <a:bodyPr wrap="square" lIns="91440" tIns="45720" rIns="91440" bIns="45720"/>
          <a:lstStyle/>
          <a:p>
            <a:pPr>
              <a:buNone/>
            </a:pPr>
            <a:r>
              <a:rPr lang="en-US" sz="1300" b="1" dirty="0">
                <a:solidFill>
                  <a:srgbClr val="1A3A52"/>
                </a:solidFill>
              </a:rPr>
              <a:t>Zero Collaboration</a:t>
            </a:r>
          </a:p>
          <a:p>
            <a:pPr>
              <a:buNone/>
            </a:pPr>
            <a:r>
              <a:rPr lang="en-US" sz="1000" dirty="0">
                <a:solidFill>
                  <a:srgbClr val="3A6E94"/>
                </a:solidFill>
              </a:rPr>
              <a:t>Teams have no shared knowledge base. Insights stay siloed inside individual heads.</a:t>
            </a:r>
          </a:p>
        </p:txBody>
      </p:sp>
      <p:sp>
        <p:nvSpPr>
          <p:cNvPr id="16" name="Divider"/>
          <p:cNvSpPr/>
          <p:nvPr/>
        </p:nvSpPr>
        <p:spPr>
          <a:xfrm>
            <a:off x="4419600" y="990600"/>
            <a:ext cx="76200" cy="3886200"/>
          </a:xfrm>
          <a:prstGeom prst="rect">
            <a:avLst/>
          </a:prstGeom>
          <a:solidFill>
            <a:srgbClr val="D0E9F7"/>
          </a:solidFill>
          <a:ln>
            <a:noFill/>
          </a:ln>
        </p:spPr>
        <p:txBody>
          <a:bodyPr/>
          <a:lstStyle/>
          <a:p>
            <a:endParaRPr/>
          </a:p>
        </p:txBody>
      </p:sp>
      <p:sp>
        <p:nvSpPr>
          <p:cNvPr id="17" name="SolHeader"/>
          <p:cNvSpPr/>
          <p:nvPr/>
        </p:nvSpPr>
        <p:spPr>
          <a:xfrm>
            <a:off x="4572000" y="990600"/>
            <a:ext cx="4419600" cy="330200"/>
          </a:xfrm>
          <a:prstGeom prst="rect">
            <a:avLst/>
          </a:prstGeom>
          <a:solidFill>
            <a:srgbClr val="6BAED6"/>
          </a:solidFill>
          <a:ln>
            <a:noFill/>
          </a:ln>
        </p:spPr>
        <p:txBody>
          <a:bodyPr anchor="ctr"/>
          <a:lstStyle/>
          <a:p>
            <a:pPr algn="ctr">
              <a:buNone/>
            </a:pPr>
            <a:r>
              <a:rPr lang="en-US" sz="1100" b="1" spc="200" dirty="0">
                <a:solidFill>
                  <a:srgbClr val="FFFFFF"/>
                </a:solidFill>
              </a:rPr>
              <a:t>THE SOLUTION</a:t>
            </a:r>
          </a:p>
        </p:txBody>
      </p:sp>
      <p:sp>
        <p:nvSpPr>
          <p:cNvPr id="19" name="SolCircle1"/>
          <p:cNvSpPr/>
          <p:nvPr/>
        </p:nvSpPr>
        <p:spPr>
          <a:xfrm>
            <a:off x="4648000" y="1692275"/>
            <a:ext cx="419100" cy="419100"/>
          </a:xfrm>
          <a:prstGeom prst="ellipse">
            <a:avLst/>
          </a:prstGeom>
          <a:solidFill>
            <a:srgbClr val="6BAED6"/>
          </a:solidFill>
          <a:ln>
            <a:solidFill>
              <a:srgbClr val="6BAED6"/>
            </a:solidFill>
          </a:ln>
        </p:spPr>
        <p:txBody>
          <a:bodyPr anchor="ctr"/>
          <a:lstStyle/>
          <a:p>
            <a:pPr algn="ctr">
              <a:buNone/>
            </a:pPr>
            <a:r>
              <a:rPr lang="en-US" sz="1400" b="1" dirty="0">
                <a:solidFill>
                  <a:srgbClr val="FFFFFF"/>
                </a:solidFill>
              </a:rPr>
              <a:t>→</a:t>
            </a:r>
          </a:p>
        </p:txBody>
      </p:sp>
      <p:sp>
        <p:nvSpPr>
          <p:cNvPr id="20" name="SolText1"/>
          <p:cNvSpPr/>
          <p:nvPr/>
        </p:nvSpPr>
        <p:spPr>
          <a:xfrm>
            <a:off x="5143500" y="1652975"/>
            <a:ext cx="3733800" cy="457200"/>
          </a:xfrm>
          <a:prstGeom prst="rect">
            <a:avLst/>
          </a:prstGeom>
          <a:noFill/>
          <a:ln>
            <a:noFill/>
          </a:ln>
        </p:spPr>
        <p:txBody>
          <a:bodyPr wrap="square" lIns="0" tIns="45720" rIns="0" bIns="45720" anchor="ctr"/>
          <a:lstStyle/>
          <a:p>
            <a:pPr>
              <a:buNone/>
            </a:pPr>
            <a:r>
              <a:rPr lang="en-US" sz="1100" dirty="0">
                <a:solidFill>
                  <a:srgbClr val="1A3A52"/>
                </a:solidFill>
              </a:rPr>
              <a:t>Capture via text, voice or video — all in one place</a:t>
            </a:r>
          </a:p>
        </p:txBody>
      </p:sp>
      <p:sp>
        <p:nvSpPr>
          <p:cNvPr id="21" name="SolCircle2"/>
          <p:cNvSpPr/>
          <p:nvPr/>
        </p:nvSpPr>
        <p:spPr>
          <a:xfrm>
            <a:off x="4648000" y="2266950"/>
            <a:ext cx="419100" cy="419100"/>
          </a:xfrm>
          <a:prstGeom prst="ellipse">
            <a:avLst/>
          </a:prstGeom>
          <a:solidFill>
            <a:srgbClr val="6BAED6"/>
          </a:solidFill>
          <a:ln>
            <a:noFill/>
          </a:ln>
        </p:spPr>
        <p:txBody>
          <a:bodyPr anchor="ctr"/>
          <a:lstStyle/>
          <a:p>
            <a:pPr algn="ctr">
              <a:buNone/>
            </a:pPr>
            <a:r>
              <a:rPr lang="en-US" sz="1400" b="1" dirty="0">
                <a:solidFill>
                  <a:srgbClr val="FFFFFF"/>
                </a:solidFill>
              </a:rPr>
              <a:t>→</a:t>
            </a:r>
          </a:p>
        </p:txBody>
      </p:sp>
      <p:sp>
        <p:nvSpPr>
          <p:cNvPr id="22" name="SolText2"/>
          <p:cNvSpPr/>
          <p:nvPr/>
        </p:nvSpPr>
        <p:spPr>
          <a:xfrm>
            <a:off x="5143500" y="2257100"/>
            <a:ext cx="3733800" cy="457200"/>
          </a:xfrm>
          <a:prstGeom prst="rect">
            <a:avLst/>
          </a:prstGeom>
          <a:noFill/>
          <a:ln>
            <a:noFill/>
          </a:ln>
        </p:spPr>
        <p:txBody>
          <a:bodyPr wrap="square" lIns="0" tIns="45720" rIns="0" bIns="45720" anchor="ctr"/>
          <a:lstStyle/>
          <a:p>
            <a:pPr>
              <a:buNone/>
            </a:pPr>
            <a:r>
              <a:rPr lang="en-US" sz="1100" dirty="0">
                <a:solidFill>
                  <a:srgbClr val="1A3A52"/>
                </a:solidFill>
              </a:rPr>
              <a:t>Semantic search — finds meaning, not just keywords</a:t>
            </a:r>
          </a:p>
        </p:txBody>
      </p:sp>
      <p:sp>
        <p:nvSpPr>
          <p:cNvPr id="23" name="SolCircle3"/>
          <p:cNvSpPr/>
          <p:nvPr/>
        </p:nvSpPr>
        <p:spPr>
          <a:xfrm>
            <a:off x="4648000" y="2842682"/>
            <a:ext cx="419100" cy="419100"/>
          </a:xfrm>
          <a:prstGeom prst="ellipse">
            <a:avLst/>
          </a:prstGeom>
          <a:solidFill>
            <a:srgbClr val="6BAED6"/>
          </a:solidFill>
          <a:ln>
            <a:noFill/>
          </a:ln>
        </p:spPr>
        <p:txBody>
          <a:bodyPr anchor="ctr"/>
          <a:lstStyle/>
          <a:p>
            <a:pPr algn="ctr">
              <a:buNone/>
            </a:pPr>
            <a:r>
              <a:rPr lang="en-US" sz="1400" b="1" dirty="0">
                <a:solidFill>
                  <a:srgbClr val="FFFFFF"/>
                </a:solidFill>
              </a:rPr>
              <a:t>→</a:t>
            </a:r>
          </a:p>
        </p:txBody>
      </p:sp>
      <p:sp>
        <p:nvSpPr>
          <p:cNvPr id="24" name="SolText3"/>
          <p:cNvSpPr/>
          <p:nvPr/>
        </p:nvSpPr>
        <p:spPr>
          <a:xfrm>
            <a:off x="5143500" y="2821305"/>
            <a:ext cx="3733800" cy="457200"/>
          </a:xfrm>
          <a:prstGeom prst="rect">
            <a:avLst/>
          </a:prstGeom>
          <a:noFill/>
          <a:ln>
            <a:noFill/>
          </a:ln>
        </p:spPr>
        <p:txBody>
          <a:bodyPr wrap="square" lIns="0" tIns="45720" rIns="0" bIns="45720" anchor="ctr"/>
          <a:lstStyle/>
          <a:p>
            <a:pPr>
              <a:buNone/>
            </a:pPr>
            <a:r>
              <a:rPr lang="en-US" sz="1100" dirty="0">
                <a:solidFill>
                  <a:srgbClr val="1A3A52"/>
                </a:solidFill>
              </a:rPr>
              <a:t>AI chat (RAG) — answers from YOUR own thoughts</a:t>
            </a:r>
          </a:p>
        </p:txBody>
      </p:sp>
      <p:sp>
        <p:nvSpPr>
          <p:cNvPr id="25" name="SolCircle4"/>
          <p:cNvSpPr/>
          <p:nvPr/>
        </p:nvSpPr>
        <p:spPr>
          <a:xfrm>
            <a:off x="4648000" y="3393016"/>
            <a:ext cx="419100" cy="419100"/>
          </a:xfrm>
          <a:prstGeom prst="ellipse">
            <a:avLst/>
          </a:prstGeom>
          <a:solidFill>
            <a:srgbClr val="6BAED6"/>
          </a:solidFill>
          <a:ln>
            <a:noFill/>
          </a:ln>
        </p:spPr>
        <p:txBody>
          <a:bodyPr anchor="ctr"/>
          <a:lstStyle/>
          <a:p>
            <a:pPr algn="ctr">
              <a:buNone/>
            </a:pPr>
            <a:r>
              <a:rPr lang="en-US" sz="1400" b="1" dirty="0">
                <a:solidFill>
                  <a:srgbClr val="FFFFFF"/>
                </a:solidFill>
              </a:rPr>
              <a:t>→</a:t>
            </a:r>
          </a:p>
        </p:txBody>
      </p:sp>
      <p:sp>
        <p:nvSpPr>
          <p:cNvPr id="26" name="SolText4"/>
          <p:cNvSpPr/>
          <p:nvPr/>
        </p:nvSpPr>
        <p:spPr>
          <a:xfrm>
            <a:off x="5143500" y="3373966"/>
            <a:ext cx="3733800" cy="457200"/>
          </a:xfrm>
          <a:prstGeom prst="rect">
            <a:avLst/>
          </a:prstGeom>
          <a:noFill/>
          <a:ln>
            <a:noFill/>
          </a:ln>
        </p:spPr>
        <p:txBody>
          <a:bodyPr wrap="square" lIns="0" tIns="45720" rIns="0" bIns="45720" anchor="ctr"/>
          <a:lstStyle/>
          <a:p>
            <a:pPr>
              <a:buNone/>
            </a:pPr>
            <a:r>
              <a:rPr lang="en-US" sz="1100" dirty="0">
                <a:solidFill>
                  <a:srgbClr val="1A3A52"/>
                </a:solidFill>
              </a:rPr>
              <a:t>Auto emotion tagging — zero manual effort</a:t>
            </a:r>
          </a:p>
        </p:txBody>
      </p:sp>
      <p:sp>
        <p:nvSpPr>
          <p:cNvPr id="27" name="SolCircle5"/>
          <p:cNvSpPr/>
          <p:nvPr/>
        </p:nvSpPr>
        <p:spPr>
          <a:xfrm>
            <a:off x="4648000" y="3943350"/>
            <a:ext cx="419100" cy="419100"/>
          </a:xfrm>
          <a:prstGeom prst="ellipse">
            <a:avLst/>
          </a:prstGeom>
          <a:solidFill>
            <a:srgbClr val="6BAED6"/>
          </a:solidFill>
          <a:ln>
            <a:noFill/>
          </a:ln>
        </p:spPr>
        <p:txBody>
          <a:bodyPr anchor="ctr"/>
          <a:lstStyle/>
          <a:p>
            <a:pPr algn="ctr">
              <a:buNone/>
            </a:pPr>
            <a:r>
              <a:rPr lang="en-US" sz="1400" b="1" dirty="0">
                <a:solidFill>
                  <a:srgbClr val="FFFFFF"/>
                </a:solidFill>
              </a:rPr>
              <a:t>→</a:t>
            </a:r>
          </a:p>
        </p:txBody>
      </p:sp>
      <p:sp>
        <p:nvSpPr>
          <p:cNvPr id="28" name="SolText5"/>
          <p:cNvSpPr/>
          <p:nvPr/>
        </p:nvSpPr>
        <p:spPr>
          <a:xfrm>
            <a:off x="5143500" y="3919050"/>
            <a:ext cx="3733800" cy="457200"/>
          </a:xfrm>
          <a:prstGeom prst="rect">
            <a:avLst/>
          </a:prstGeom>
          <a:noFill/>
          <a:ln>
            <a:noFill/>
          </a:ln>
        </p:spPr>
        <p:txBody>
          <a:bodyPr wrap="square" lIns="0" tIns="45720" rIns="0" bIns="45720" anchor="ctr"/>
          <a:lstStyle/>
          <a:p>
            <a:pPr>
              <a:buNone/>
            </a:pPr>
            <a:r>
              <a:rPr lang="en-US" sz="1100" dirty="0">
                <a:solidFill>
                  <a:srgbClr val="1A3A52"/>
                </a:solidFill>
              </a:rPr>
              <a:t>Collaborative rooms — shared team brain</a:t>
            </a:r>
          </a:p>
        </p:txBody>
      </p:sp>
      <p:sp>
        <p:nvSpPr>
          <p:cNvPr id="30" name="SolText6"/>
          <p:cNvSpPr/>
          <p:nvPr/>
        </p:nvSpPr>
        <p:spPr>
          <a:xfrm>
            <a:off x="5143500" y="4212900"/>
            <a:ext cx="3733800" cy="457200"/>
          </a:xfrm>
          <a:prstGeom prst="rect">
            <a:avLst/>
          </a:prstGeom>
          <a:noFill/>
          <a:ln>
            <a:noFill/>
          </a:ln>
        </p:spPr>
        <p:txBody>
          <a:bodyPr wrap="square" lIns="0" tIns="45720" rIns="0" bIns="45720" anchor="ctr"/>
          <a:lstStyle/>
          <a:p>
            <a:pPr>
              <a:buNone/>
            </a:pPr>
            <a:endParaRPr lang="en-US" sz="1100" dirty="0">
              <a:solidFill>
                <a:srgbClr val="1A3A52"/>
              </a:solidFill>
            </a:endParaRPr>
          </a:p>
        </p:txBody>
      </p:sp>
      <p:sp>
        <p:nvSpPr>
          <p:cNvPr id="32" name="Shape 52">
            <a:extLst>
              <a:ext uri="{FF2B5EF4-FFF2-40B4-BE49-F238E27FC236}">
                <a16:creationId xmlns:a16="http://schemas.microsoft.com/office/drawing/2014/main" id="{EF69D7FB-43B1-2662-DD9B-7E9900B3CFD3}"/>
              </a:ext>
            </a:extLst>
          </p:cNvPr>
          <p:cNvSpPr/>
          <p:nvPr/>
        </p:nvSpPr>
        <p:spPr>
          <a:xfrm>
            <a:off x="0" y="4773168"/>
            <a:ext cx="9144000" cy="370332"/>
          </a:xfrm>
          <a:prstGeom prst="rect">
            <a:avLst/>
          </a:prstGeom>
          <a:solidFill>
            <a:srgbClr val="D0E9F7"/>
          </a:solidFill>
          <a:ln w="12700">
            <a:solidFill>
              <a:srgbClr val="D0E9F7"/>
            </a:solidFill>
            <a:prstDash val="solid"/>
          </a:ln>
        </p:spPr>
        <p:txBody>
          <a:bodyPr/>
          <a:lstStyle/>
          <a:p>
            <a:pPr algn="ctr"/>
            <a:endParaRPr lang="en-IN" sz="950" dirty="0">
              <a:solidFill>
                <a:srgbClr val="6BAED6"/>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6BAED6"/>
          </a:solidFill>
          <a:ln w="12700">
            <a:solidFill>
              <a:srgbClr val="6BAED6"/>
            </a:solidFill>
            <a:prstDash val="solid"/>
          </a:ln>
        </p:spPr>
        <p:txBody>
          <a:bodyPr/>
          <a:lstStyle/>
          <a:p>
            <a:endParaRPr lang="en-IN"/>
          </a:p>
        </p:txBody>
      </p:sp>
      <p:sp>
        <p:nvSpPr>
          <p:cNvPr id="3" name="Text 1"/>
          <p:cNvSpPr/>
          <p:nvPr/>
        </p:nvSpPr>
        <p:spPr>
          <a:xfrm>
            <a:off x="274320" y="73152"/>
            <a:ext cx="685800" cy="768096"/>
          </a:xfrm>
          <a:prstGeom prst="rect">
            <a:avLst/>
          </a:prstGeom>
          <a:noFill/>
          <a:ln/>
        </p:spPr>
        <p:txBody>
          <a:bodyPr wrap="square" lIns="0" tIns="0" rIns="0" bIns="0" rtlCol="0" anchor="ctr"/>
          <a:lstStyle/>
          <a:p>
            <a:pPr marL="0" indent="0">
              <a:buNone/>
            </a:pPr>
            <a:endParaRPr lang="en-US" sz="3400" dirty="0"/>
          </a:p>
        </p:txBody>
      </p:sp>
      <p:sp>
        <p:nvSpPr>
          <p:cNvPr id="4" name="Text 2"/>
          <p:cNvSpPr/>
          <p:nvPr/>
        </p:nvSpPr>
        <p:spPr>
          <a:xfrm>
            <a:off x="274320" y="64008"/>
            <a:ext cx="7772400" cy="768096"/>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Tech Stack &amp; Impact</a:t>
            </a:r>
            <a:endParaRPr lang="en-US" sz="2600" dirty="0"/>
          </a:p>
        </p:txBody>
      </p:sp>
      <p:sp>
        <p:nvSpPr>
          <p:cNvPr id="5" name="Shape 3"/>
          <p:cNvSpPr/>
          <p:nvPr/>
        </p:nvSpPr>
        <p:spPr>
          <a:xfrm>
            <a:off x="256032" y="987552"/>
            <a:ext cx="5257800" cy="347472"/>
          </a:xfrm>
          <a:prstGeom prst="rect">
            <a:avLst/>
          </a:prstGeom>
          <a:solidFill>
            <a:srgbClr val="6BAED6"/>
          </a:solidFill>
          <a:ln w="12700">
            <a:solidFill>
              <a:srgbClr val="6BAED6"/>
            </a:solidFill>
            <a:prstDash val="solid"/>
          </a:ln>
        </p:spPr>
        <p:txBody>
          <a:bodyPr/>
          <a:lstStyle/>
          <a:p>
            <a:endParaRPr lang="en-IN"/>
          </a:p>
        </p:txBody>
      </p:sp>
      <p:sp>
        <p:nvSpPr>
          <p:cNvPr id="6" name="Text 4"/>
          <p:cNvSpPr/>
          <p:nvPr/>
        </p:nvSpPr>
        <p:spPr>
          <a:xfrm>
            <a:off x="329184" y="987552"/>
            <a:ext cx="1005840" cy="347472"/>
          </a:xfrm>
          <a:prstGeom prst="rect">
            <a:avLst/>
          </a:prstGeom>
          <a:noFill/>
          <a:ln/>
        </p:spPr>
        <p:txBody>
          <a:bodyPr wrap="square" lIns="0" tIns="0" rIns="0" bIns="0" rtlCol="0" anchor="ctr"/>
          <a:lstStyle/>
          <a:p>
            <a:pPr marL="0" indent="0">
              <a:buNone/>
            </a:pPr>
            <a:r>
              <a:rPr lang="en-US" sz="1000" b="1" kern="0" spc="100" dirty="0">
                <a:solidFill>
                  <a:srgbClr val="FFFFFF"/>
                </a:solidFill>
              </a:rPr>
              <a:t>Layer</a:t>
            </a:r>
            <a:endParaRPr lang="en-US" sz="1000" dirty="0"/>
          </a:p>
        </p:txBody>
      </p:sp>
      <p:sp>
        <p:nvSpPr>
          <p:cNvPr id="7" name="Text 5"/>
          <p:cNvSpPr/>
          <p:nvPr/>
        </p:nvSpPr>
        <p:spPr>
          <a:xfrm>
            <a:off x="1389888" y="987552"/>
            <a:ext cx="1508760" cy="347472"/>
          </a:xfrm>
          <a:prstGeom prst="rect">
            <a:avLst/>
          </a:prstGeom>
          <a:noFill/>
          <a:ln/>
        </p:spPr>
        <p:txBody>
          <a:bodyPr wrap="square" lIns="0" tIns="0" rIns="0" bIns="0" rtlCol="0" anchor="ctr"/>
          <a:lstStyle/>
          <a:p>
            <a:pPr marL="0" indent="0">
              <a:buNone/>
            </a:pPr>
            <a:r>
              <a:rPr lang="en-US" sz="1000" b="1" kern="0" spc="100" dirty="0">
                <a:solidFill>
                  <a:srgbClr val="FFFFFF"/>
                </a:solidFill>
              </a:rPr>
              <a:t>Technology</a:t>
            </a:r>
            <a:endParaRPr lang="en-US" sz="1000" dirty="0"/>
          </a:p>
        </p:txBody>
      </p:sp>
      <p:sp>
        <p:nvSpPr>
          <p:cNvPr id="8" name="Text 6"/>
          <p:cNvSpPr/>
          <p:nvPr/>
        </p:nvSpPr>
        <p:spPr>
          <a:xfrm>
            <a:off x="2944368" y="987552"/>
            <a:ext cx="2487168" cy="347472"/>
          </a:xfrm>
          <a:prstGeom prst="rect">
            <a:avLst/>
          </a:prstGeom>
          <a:noFill/>
          <a:ln/>
        </p:spPr>
        <p:txBody>
          <a:bodyPr wrap="square" lIns="0" tIns="0" rIns="0" bIns="0" rtlCol="0" anchor="ctr"/>
          <a:lstStyle/>
          <a:p>
            <a:pPr marL="0" indent="0">
              <a:buNone/>
            </a:pPr>
            <a:r>
              <a:rPr lang="en-US" sz="1000" b="1" kern="0" spc="100" dirty="0">
                <a:solidFill>
                  <a:srgbClr val="FFFFFF"/>
                </a:solidFill>
              </a:rPr>
              <a:t>Purpose</a:t>
            </a:r>
            <a:endParaRPr lang="en-US" sz="1000" dirty="0"/>
          </a:p>
        </p:txBody>
      </p:sp>
      <p:sp>
        <p:nvSpPr>
          <p:cNvPr id="9" name="Shape 7"/>
          <p:cNvSpPr/>
          <p:nvPr/>
        </p:nvSpPr>
        <p:spPr>
          <a:xfrm>
            <a:off x="256032" y="1335024"/>
            <a:ext cx="5257800" cy="502920"/>
          </a:xfrm>
          <a:prstGeom prst="rect">
            <a:avLst/>
          </a:prstGeom>
          <a:solidFill>
            <a:srgbClr val="E8F4FB"/>
          </a:solidFill>
          <a:ln w="3810">
            <a:solidFill>
              <a:srgbClr val="D0E9F7"/>
            </a:solidFill>
            <a:prstDash val="solid"/>
          </a:ln>
        </p:spPr>
        <p:txBody>
          <a:bodyPr/>
          <a:lstStyle/>
          <a:p>
            <a:endParaRPr lang="en-IN"/>
          </a:p>
        </p:txBody>
      </p:sp>
      <p:sp>
        <p:nvSpPr>
          <p:cNvPr id="10" name="Shape 8"/>
          <p:cNvSpPr/>
          <p:nvPr/>
        </p:nvSpPr>
        <p:spPr>
          <a:xfrm>
            <a:off x="256032" y="1335024"/>
            <a:ext cx="64008" cy="502920"/>
          </a:xfrm>
          <a:prstGeom prst="rect">
            <a:avLst/>
          </a:prstGeom>
          <a:solidFill>
            <a:srgbClr val="6BAED6"/>
          </a:solidFill>
          <a:ln w="12700">
            <a:solidFill>
              <a:srgbClr val="6BAED6"/>
            </a:solidFill>
            <a:prstDash val="solid"/>
          </a:ln>
        </p:spPr>
        <p:txBody>
          <a:bodyPr/>
          <a:lstStyle/>
          <a:p>
            <a:endParaRPr lang="en-IN"/>
          </a:p>
        </p:txBody>
      </p:sp>
      <p:sp>
        <p:nvSpPr>
          <p:cNvPr id="11" name="Text 9"/>
          <p:cNvSpPr/>
          <p:nvPr/>
        </p:nvSpPr>
        <p:spPr>
          <a:xfrm>
            <a:off x="384048" y="1335024"/>
            <a:ext cx="914400" cy="502920"/>
          </a:xfrm>
          <a:prstGeom prst="rect">
            <a:avLst/>
          </a:prstGeom>
          <a:noFill/>
          <a:ln/>
        </p:spPr>
        <p:txBody>
          <a:bodyPr wrap="square" lIns="0" tIns="0" rIns="0" bIns="0" rtlCol="0" anchor="ctr"/>
          <a:lstStyle/>
          <a:p>
            <a:pPr marL="0" indent="0">
              <a:buNone/>
            </a:pPr>
            <a:r>
              <a:rPr lang="en-US" sz="1000" b="1" dirty="0">
                <a:solidFill>
                  <a:srgbClr val="6BAED6"/>
                </a:solidFill>
              </a:rPr>
              <a:t>API Framework</a:t>
            </a:r>
            <a:endParaRPr lang="en-US" sz="1000" dirty="0"/>
          </a:p>
        </p:txBody>
      </p:sp>
      <p:sp>
        <p:nvSpPr>
          <p:cNvPr id="12" name="Text 10"/>
          <p:cNvSpPr/>
          <p:nvPr/>
        </p:nvSpPr>
        <p:spPr>
          <a:xfrm>
            <a:off x="1389888" y="1335024"/>
            <a:ext cx="1463040" cy="502920"/>
          </a:xfrm>
          <a:prstGeom prst="rect">
            <a:avLst/>
          </a:prstGeom>
          <a:noFill/>
          <a:ln/>
        </p:spPr>
        <p:txBody>
          <a:bodyPr wrap="square" lIns="0" tIns="0" rIns="0" bIns="0" rtlCol="0" anchor="ctr"/>
          <a:lstStyle/>
          <a:p>
            <a:pPr marL="0" indent="0">
              <a:buNone/>
            </a:pPr>
            <a:r>
              <a:rPr lang="en-US" sz="1000" dirty="0">
                <a:solidFill>
                  <a:srgbClr val="1A3A52"/>
                </a:solidFill>
              </a:rPr>
              <a:t>FastAPI (Python)</a:t>
            </a:r>
            <a:endParaRPr lang="en-US" sz="1000" dirty="0"/>
          </a:p>
        </p:txBody>
      </p:sp>
      <p:sp>
        <p:nvSpPr>
          <p:cNvPr id="13" name="Text 11"/>
          <p:cNvSpPr/>
          <p:nvPr/>
        </p:nvSpPr>
        <p:spPr>
          <a:xfrm>
            <a:off x="2944368" y="1335024"/>
            <a:ext cx="2487168" cy="502920"/>
          </a:xfrm>
          <a:prstGeom prst="rect">
            <a:avLst/>
          </a:prstGeom>
          <a:noFill/>
          <a:ln/>
        </p:spPr>
        <p:txBody>
          <a:bodyPr wrap="square" lIns="0" tIns="0" rIns="0" bIns="0" rtlCol="0" anchor="ctr"/>
          <a:lstStyle/>
          <a:p>
            <a:pPr marL="0" indent="0">
              <a:buNone/>
            </a:pPr>
            <a:r>
              <a:rPr lang="en-US" sz="950" dirty="0">
                <a:solidFill>
                  <a:srgbClr val="3A6E94"/>
                </a:solidFill>
              </a:rPr>
              <a:t>Routes, Pydantic validation, CORS middleware</a:t>
            </a:r>
            <a:endParaRPr lang="en-US" sz="950" dirty="0"/>
          </a:p>
        </p:txBody>
      </p:sp>
      <p:sp>
        <p:nvSpPr>
          <p:cNvPr id="14" name="Shape 12"/>
          <p:cNvSpPr/>
          <p:nvPr/>
        </p:nvSpPr>
        <p:spPr>
          <a:xfrm>
            <a:off x="256032" y="1901952"/>
            <a:ext cx="5257800" cy="502920"/>
          </a:xfrm>
          <a:prstGeom prst="rect">
            <a:avLst/>
          </a:prstGeom>
          <a:solidFill>
            <a:srgbClr val="FFFFFF"/>
          </a:solidFill>
          <a:ln w="3810">
            <a:solidFill>
              <a:srgbClr val="D0E9F7"/>
            </a:solidFill>
            <a:prstDash val="solid"/>
          </a:ln>
        </p:spPr>
        <p:txBody>
          <a:bodyPr/>
          <a:lstStyle/>
          <a:p>
            <a:endParaRPr lang="en-IN"/>
          </a:p>
        </p:txBody>
      </p:sp>
      <p:sp>
        <p:nvSpPr>
          <p:cNvPr id="15" name="Shape 13"/>
          <p:cNvSpPr/>
          <p:nvPr/>
        </p:nvSpPr>
        <p:spPr>
          <a:xfrm>
            <a:off x="256032" y="1901952"/>
            <a:ext cx="64008" cy="502920"/>
          </a:xfrm>
          <a:prstGeom prst="rect">
            <a:avLst/>
          </a:prstGeom>
          <a:solidFill>
            <a:srgbClr val="6BAED6"/>
          </a:solidFill>
          <a:ln w="12700">
            <a:solidFill>
              <a:srgbClr val="6BAED6"/>
            </a:solidFill>
            <a:prstDash val="solid"/>
          </a:ln>
        </p:spPr>
        <p:txBody>
          <a:bodyPr/>
          <a:lstStyle/>
          <a:p>
            <a:endParaRPr lang="en-IN"/>
          </a:p>
        </p:txBody>
      </p:sp>
      <p:sp>
        <p:nvSpPr>
          <p:cNvPr id="16" name="Text 14"/>
          <p:cNvSpPr/>
          <p:nvPr/>
        </p:nvSpPr>
        <p:spPr>
          <a:xfrm>
            <a:off x="384048" y="1901952"/>
            <a:ext cx="914400" cy="502920"/>
          </a:xfrm>
          <a:prstGeom prst="rect">
            <a:avLst/>
          </a:prstGeom>
          <a:noFill/>
          <a:ln/>
        </p:spPr>
        <p:txBody>
          <a:bodyPr wrap="square" lIns="0" tIns="0" rIns="0" bIns="0" rtlCol="0" anchor="ctr"/>
          <a:lstStyle/>
          <a:p>
            <a:pPr marL="0" indent="0">
              <a:buNone/>
            </a:pPr>
            <a:r>
              <a:rPr lang="en-US" sz="1000" b="1" dirty="0">
                <a:solidFill>
                  <a:srgbClr val="6BAED6"/>
                </a:solidFill>
              </a:rPr>
              <a:t>LLM / AI</a:t>
            </a:r>
            <a:endParaRPr lang="en-US" sz="1000" dirty="0"/>
          </a:p>
        </p:txBody>
      </p:sp>
      <p:sp>
        <p:nvSpPr>
          <p:cNvPr id="17" name="Text 15"/>
          <p:cNvSpPr/>
          <p:nvPr/>
        </p:nvSpPr>
        <p:spPr>
          <a:xfrm>
            <a:off x="1389888" y="1901952"/>
            <a:ext cx="1463040" cy="502920"/>
          </a:xfrm>
          <a:prstGeom prst="rect">
            <a:avLst/>
          </a:prstGeom>
          <a:noFill/>
          <a:ln/>
        </p:spPr>
        <p:txBody>
          <a:bodyPr wrap="square" lIns="0" tIns="0" rIns="0" bIns="0" rtlCol="0" anchor="ctr"/>
          <a:lstStyle/>
          <a:p>
            <a:pPr marL="0" indent="0">
              <a:buNone/>
            </a:pPr>
            <a:r>
              <a:rPr lang="en-US" sz="1000" dirty="0">
                <a:solidFill>
                  <a:srgbClr val="1A3A52"/>
                </a:solidFill>
              </a:rPr>
              <a:t>Groq · Llama 3.3 70B</a:t>
            </a:r>
            <a:endParaRPr lang="en-US" sz="1000" dirty="0"/>
          </a:p>
        </p:txBody>
      </p:sp>
      <p:sp>
        <p:nvSpPr>
          <p:cNvPr id="18" name="Text 16"/>
          <p:cNvSpPr/>
          <p:nvPr/>
        </p:nvSpPr>
        <p:spPr>
          <a:xfrm>
            <a:off x="2944368" y="1901952"/>
            <a:ext cx="2487168" cy="502920"/>
          </a:xfrm>
          <a:prstGeom prst="rect">
            <a:avLst/>
          </a:prstGeom>
          <a:noFill/>
          <a:ln/>
        </p:spPr>
        <p:txBody>
          <a:bodyPr wrap="square" lIns="0" tIns="0" rIns="0" bIns="0" rtlCol="0" anchor="ctr"/>
          <a:lstStyle/>
          <a:p>
            <a:pPr marL="0" indent="0">
              <a:buNone/>
            </a:pPr>
            <a:r>
              <a:rPr lang="en-US" sz="950" dirty="0">
                <a:solidFill>
                  <a:srgbClr val="3A6E94"/>
                </a:solidFill>
              </a:rPr>
              <a:t>Chat, tag extraction, emotion, summaries</a:t>
            </a:r>
            <a:endParaRPr lang="en-US" sz="950" dirty="0"/>
          </a:p>
        </p:txBody>
      </p:sp>
      <p:sp>
        <p:nvSpPr>
          <p:cNvPr id="19" name="Shape 17"/>
          <p:cNvSpPr/>
          <p:nvPr/>
        </p:nvSpPr>
        <p:spPr>
          <a:xfrm>
            <a:off x="256032" y="2468880"/>
            <a:ext cx="5257800" cy="502920"/>
          </a:xfrm>
          <a:prstGeom prst="rect">
            <a:avLst/>
          </a:prstGeom>
          <a:solidFill>
            <a:srgbClr val="E8F4FB"/>
          </a:solidFill>
          <a:ln w="3810">
            <a:solidFill>
              <a:srgbClr val="D0E9F7"/>
            </a:solidFill>
            <a:prstDash val="solid"/>
          </a:ln>
        </p:spPr>
        <p:txBody>
          <a:bodyPr/>
          <a:lstStyle/>
          <a:p>
            <a:endParaRPr lang="en-IN"/>
          </a:p>
        </p:txBody>
      </p:sp>
      <p:sp>
        <p:nvSpPr>
          <p:cNvPr id="20" name="Shape 18"/>
          <p:cNvSpPr/>
          <p:nvPr/>
        </p:nvSpPr>
        <p:spPr>
          <a:xfrm>
            <a:off x="256032" y="2468880"/>
            <a:ext cx="64008" cy="502920"/>
          </a:xfrm>
          <a:prstGeom prst="rect">
            <a:avLst/>
          </a:prstGeom>
          <a:solidFill>
            <a:srgbClr val="6BAED6"/>
          </a:solidFill>
          <a:ln w="12700">
            <a:solidFill>
              <a:srgbClr val="6BAED6"/>
            </a:solidFill>
            <a:prstDash val="solid"/>
          </a:ln>
        </p:spPr>
        <p:txBody>
          <a:bodyPr/>
          <a:lstStyle/>
          <a:p>
            <a:endParaRPr lang="en-IN"/>
          </a:p>
        </p:txBody>
      </p:sp>
      <p:sp>
        <p:nvSpPr>
          <p:cNvPr id="21" name="Text 19"/>
          <p:cNvSpPr/>
          <p:nvPr/>
        </p:nvSpPr>
        <p:spPr>
          <a:xfrm>
            <a:off x="384048" y="2468880"/>
            <a:ext cx="914400" cy="502920"/>
          </a:xfrm>
          <a:prstGeom prst="rect">
            <a:avLst/>
          </a:prstGeom>
          <a:noFill/>
          <a:ln/>
        </p:spPr>
        <p:txBody>
          <a:bodyPr wrap="square" lIns="0" tIns="0" rIns="0" bIns="0" rtlCol="0" anchor="ctr"/>
          <a:lstStyle/>
          <a:p>
            <a:pPr marL="0" indent="0">
              <a:buNone/>
            </a:pPr>
            <a:r>
              <a:rPr lang="en-US" sz="1000" b="1" dirty="0">
                <a:solidFill>
                  <a:srgbClr val="6BAED6"/>
                </a:solidFill>
              </a:rPr>
              <a:t>Transcription</a:t>
            </a:r>
            <a:endParaRPr lang="en-US" sz="1000" dirty="0"/>
          </a:p>
        </p:txBody>
      </p:sp>
      <p:sp>
        <p:nvSpPr>
          <p:cNvPr id="22" name="Text 20"/>
          <p:cNvSpPr/>
          <p:nvPr/>
        </p:nvSpPr>
        <p:spPr>
          <a:xfrm>
            <a:off x="1389888" y="2468880"/>
            <a:ext cx="1463040" cy="502920"/>
          </a:xfrm>
          <a:prstGeom prst="rect">
            <a:avLst/>
          </a:prstGeom>
          <a:noFill/>
          <a:ln/>
        </p:spPr>
        <p:txBody>
          <a:bodyPr wrap="square" lIns="0" tIns="0" rIns="0" bIns="0" rtlCol="0" anchor="ctr"/>
          <a:lstStyle/>
          <a:p>
            <a:pPr marL="0" indent="0">
              <a:buNone/>
            </a:pPr>
            <a:r>
              <a:rPr lang="en-US" sz="1000" dirty="0">
                <a:solidFill>
                  <a:srgbClr val="1A3A52"/>
                </a:solidFill>
              </a:rPr>
              <a:t>Groq Whisper Large v3</a:t>
            </a:r>
            <a:endParaRPr lang="en-US" sz="1000" dirty="0"/>
          </a:p>
        </p:txBody>
      </p:sp>
      <p:sp>
        <p:nvSpPr>
          <p:cNvPr id="23" name="Text 21"/>
          <p:cNvSpPr/>
          <p:nvPr/>
        </p:nvSpPr>
        <p:spPr>
          <a:xfrm>
            <a:off x="2944368" y="2468880"/>
            <a:ext cx="2487168" cy="502920"/>
          </a:xfrm>
          <a:prstGeom prst="rect">
            <a:avLst/>
          </a:prstGeom>
          <a:noFill/>
          <a:ln/>
        </p:spPr>
        <p:txBody>
          <a:bodyPr wrap="square" lIns="0" tIns="0" rIns="0" bIns="0" rtlCol="0" anchor="ctr"/>
          <a:lstStyle/>
          <a:p>
            <a:pPr marL="0" indent="0">
              <a:buNone/>
            </a:pPr>
            <a:r>
              <a:rPr lang="en-US" sz="950" dirty="0">
                <a:solidFill>
                  <a:srgbClr val="3A6E94"/>
                </a:solidFill>
              </a:rPr>
              <a:t>Speech-to-text via ffmpeg WAV extraction</a:t>
            </a:r>
            <a:endParaRPr lang="en-US" sz="950" dirty="0"/>
          </a:p>
        </p:txBody>
      </p:sp>
      <p:sp>
        <p:nvSpPr>
          <p:cNvPr id="24" name="Shape 22"/>
          <p:cNvSpPr/>
          <p:nvPr/>
        </p:nvSpPr>
        <p:spPr>
          <a:xfrm>
            <a:off x="256032" y="3035808"/>
            <a:ext cx="5257800" cy="502920"/>
          </a:xfrm>
          <a:prstGeom prst="rect">
            <a:avLst/>
          </a:prstGeom>
          <a:solidFill>
            <a:srgbClr val="FFFFFF"/>
          </a:solidFill>
          <a:ln w="3810">
            <a:solidFill>
              <a:srgbClr val="D0E9F7"/>
            </a:solidFill>
            <a:prstDash val="solid"/>
          </a:ln>
        </p:spPr>
        <p:txBody>
          <a:bodyPr/>
          <a:lstStyle/>
          <a:p>
            <a:endParaRPr lang="en-IN"/>
          </a:p>
        </p:txBody>
      </p:sp>
      <p:sp>
        <p:nvSpPr>
          <p:cNvPr id="25" name="Shape 23"/>
          <p:cNvSpPr/>
          <p:nvPr/>
        </p:nvSpPr>
        <p:spPr>
          <a:xfrm>
            <a:off x="256032" y="3035808"/>
            <a:ext cx="64008" cy="502920"/>
          </a:xfrm>
          <a:prstGeom prst="rect">
            <a:avLst/>
          </a:prstGeom>
          <a:solidFill>
            <a:srgbClr val="6BAED6"/>
          </a:solidFill>
          <a:ln w="12700">
            <a:solidFill>
              <a:srgbClr val="6BAED6"/>
            </a:solidFill>
            <a:prstDash val="solid"/>
          </a:ln>
        </p:spPr>
        <p:txBody>
          <a:bodyPr/>
          <a:lstStyle/>
          <a:p>
            <a:endParaRPr lang="en-IN"/>
          </a:p>
        </p:txBody>
      </p:sp>
      <p:sp>
        <p:nvSpPr>
          <p:cNvPr id="26" name="Text 24"/>
          <p:cNvSpPr/>
          <p:nvPr/>
        </p:nvSpPr>
        <p:spPr>
          <a:xfrm>
            <a:off x="384048" y="3035808"/>
            <a:ext cx="914400" cy="502920"/>
          </a:xfrm>
          <a:prstGeom prst="rect">
            <a:avLst/>
          </a:prstGeom>
          <a:noFill/>
          <a:ln/>
        </p:spPr>
        <p:txBody>
          <a:bodyPr wrap="square" lIns="0" tIns="0" rIns="0" bIns="0" rtlCol="0" anchor="ctr"/>
          <a:lstStyle/>
          <a:p>
            <a:pPr marL="0" indent="0">
              <a:buNone/>
            </a:pPr>
            <a:r>
              <a:rPr lang="en-US" sz="1000" b="1" dirty="0">
                <a:solidFill>
                  <a:srgbClr val="6BAED6"/>
                </a:solidFill>
              </a:rPr>
              <a:t>Vector DB</a:t>
            </a:r>
            <a:endParaRPr lang="en-US" sz="1000" dirty="0"/>
          </a:p>
        </p:txBody>
      </p:sp>
      <p:sp>
        <p:nvSpPr>
          <p:cNvPr id="27" name="Text 25"/>
          <p:cNvSpPr/>
          <p:nvPr/>
        </p:nvSpPr>
        <p:spPr>
          <a:xfrm>
            <a:off x="1389888" y="3035808"/>
            <a:ext cx="1463040" cy="502920"/>
          </a:xfrm>
          <a:prstGeom prst="rect">
            <a:avLst/>
          </a:prstGeom>
          <a:noFill/>
          <a:ln/>
        </p:spPr>
        <p:txBody>
          <a:bodyPr wrap="square" lIns="0" tIns="0" rIns="0" bIns="0" rtlCol="0" anchor="ctr"/>
          <a:lstStyle/>
          <a:p>
            <a:pPr marL="0" indent="0">
              <a:buNone/>
            </a:pPr>
            <a:r>
              <a:rPr lang="en-US" sz="1000" dirty="0">
                <a:solidFill>
                  <a:srgbClr val="1A3A52"/>
                </a:solidFill>
              </a:rPr>
              <a:t>ChromaDB + MiniLM-L6</a:t>
            </a:r>
            <a:endParaRPr lang="en-US" sz="1000" dirty="0"/>
          </a:p>
        </p:txBody>
      </p:sp>
      <p:sp>
        <p:nvSpPr>
          <p:cNvPr id="28" name="Text 26"/>
          <p:cNvSpPr/>
          <p:nvPr/>
        </p:nvSpPr>
        <p:spPr>
          <a:xfrm>
            <a:off x="2944368" y="3035808"/>
            <a:ext cx="2487168" cy="502920"/>
          </a:xfrm>
          <a:prstGeom prst="rect">
            <a:avLst/>
          </a:prstGeom>
          <a:noFill/>
          <a:ln/>
        </p:spPr>
        <p:txBody>
          <a:bodyPr wrap="square" lIns="0" tIns="0" rIns="0" bIns="0" rtlCol="0" anchor="ctr"/>
          <a:lstStyle/>
          <a:p>
            <a:pPr marL="0" indent="0">
              <a:buNone/>
            </a:pPr>
            <a:r>
              <a:rPr lang="en-US" sz="950" dirty="0">
                <a:solidFill>
                  <a:srgbClr val="3A6E94"/>
                </a:solidFill>
              </a:rPr>
              <a:t>Semantic search &amp; RAG thought retrieval</a:t>
            </a:r>
            <a:endParaRPr lang="en-US" sz="950" dirty="0"/>
          </a:p>
        </p:txBody>
      </p:sp>
      <p:sp>
        <p:nvSpPr>
          <p:cNvPr id="29" name="Shape 27"/>
          <p:cNvSpPr/>
          <p:nvPr/>
        </p:nvSpPr>
        <p:spPr>
          <a:xfrm>
            <a:off x="256032" y="3602736"/>
            <a:ext cx="5257800" cy="502920"/>
          </a:xfrm>
          <a:prstGeom prst="rect">
            <a:avLst/>
          </a:prstGeom>
          <a:solidFill>
            <a:srgbClr val="E8F4FB"/>
          </a:solidFill>
          <a:ln w="3810">
            <a:solidFill>
              <a:srgbClr val="D0E9F7"/>
            </a:solidFill>
            <a:prstDash val="solid"/>
          </a:ln>
        </p:spPr>
        <p:txBody>
          <a:bodyPr/>
          <a:lstStyle/>
          <a:p>
            <a:endParaRPr lang="en-IN"/>
          </a:p>
        </p:txBody>
      </p:sp>
      <p:sp>
        <p:nvSpPr>
          <p:cNvPr id="30" name="Shape 28"/>
          <p:cNvSpPr/>
          <p:nvPr/>
        </p:nvSpPr>
        <p:spPr>
          <a:xfrm>
            <a:off x="256032" y="3602736"/>
            <a:ext cx="64008" cy="502920"/>
          </a:xfrm>
          <a:prstGeom prst="rect">
            <a:avLst/>
          </a:prstGeom>
          <a:solidFill>
            <a:srgbClr val="6BAED6"/>
          </a:solidFill>
          <a:ln w="12700">
            <a:solidFill>
              <a:srgbClr val="6BAED6"/>
            </a:solidFill>
            <a:prstDash val="solid"/>
          </a:ln>
        </p:spPr>
        <p:txBody>
          <a:bodyPr/>
          <a:lstStyle/>
          <a:p>
            <a:endParaRPr lang="en-IN"/>
          </a:p>
        </p:txBody>
      </p:sp>
      <p:sp>
        <p:nvSpPr>
          <p:cNvPr id="31" name="Text 29"/>
          <p:cNvSpPr/>
          <p:nvPr/>
        </p:nvSpPr>
        <p:spPr>
          <a:xfrm>
            <a:off x="384048" y="3602736"/>
            <a:ext cx="914400" cy="502920"/>
          </a:xfrm>
          <a:prstGeom prst="rect">
            <a:avLst/>
          </a:prstGeom>
          <a:noFill/>
          <a:ln/>
        </p:spPr>
        <p:txBody>
          <a:bodyPr wrap="square" lIns="0" tIns="0" rIns="0" bIns="0" rtlCol="0" anchor="ctr"/>
          <a:lstStyle/>
          <a:p>
            <a:pPr marL="0" indent="0">
              <a:buNone/>
            </a:pPr>
            <a:r>
              <a:rPr lang="en-US" sz="1000" b="1" dirty="0">
                <a:solidFill>
                  <a:srgbClr val="6BAED6"/>
                </a:solidFill>
              </a:rPr>
              <a:t>Relational DB</a:t>
            </a:r>
            <a:endParaRPr lang="en-US" sz="1000" dirty="0"/>
          </a:p>
        </p:txBody>
      </p:sp>
      <p:sp>
        <p:nvSpPr>
          <p:cNvPr id="32" name="Text 30"/>
          <p:cNvSpPr/>
          <p:nvPr/>
        </p:nvSpPr>
        <p:spPr>
          <a:xfrm>
            <a:off x="1389888" y="3602736"/>
            <a:ext cx="1463040" cy="502920"/>
          </a:xfrm>
          <a:prstGeom prst="rect">
            <a:avLst/>
          </a:prstGeom>
          <a:noFill/>
          <a:ln/>
        </p:spPr>
        <p:txBody>
          <a:bodyPr wrap="square" lIns="0" tIns="0" rIns="0" bIns="0" rtlCol="0" anchor="ctr"/>
          <a:lstStyle/>
          <a:p>
            <a:pPr marL="0" indent="0">
              <a:buNone/>
            </a:pPr>
            <a:r>
              <a:rPr lang="en-US" sz="1000" dirty="0">
                <a:solidFill>
                  <a:srgbClr val="1A3A52"/>
                </a:solidFill>
              </a:rPr>
              <a:t>SQLite</a:t>
            </a:r>
            <a:endParaRPr lang="en-US" sz="1000" dirty="0"/>
          </a:p>
        </p:txBody>
      </p:sp>
      <p:sp>
        <p:nvSpPr>
          <p:cNvPr id="33" name="Text 31"/>
          <p:cNvSpPr/>
          <p:nvPr/>
        </p:nvSpPr>
        <p:spPr>
          <a:xfrm>
            <a:off x="2944368" y="3602736"/>
            <a:ext cx="2487168" cy="502920"/>
          </a:xfrm>
          <a:prstGeom prst="rect">
            <a:avLst/>
          </a:prstGeom>
          <a:noFill/>
          <a:ln/>
        </p:spPr>
        <p:txBody>
          <a:bodyPr wrap="square" lIns="0" tIns="0" rIns="0" bIns="0" rtlCol="0" anchor="ctr"/>
          <a:lstStyle/>
          <a:p>
            <a:pPr marL="0" indent="0">
              <a:buNone/>
            </a:pPr>
            <a:r>
              <a:rPr lang="en-US" sz="950" dirty="0">
                <a:solidFill>
                  <a:srgbClr val="3A6E94"/>
                </a:solidFill>
              </a:rPr>
              <a:t>Structured storage, rooms, pins, reminders</a:t>
            </a:r>
            <a:endParaRPr lang="en-US" sz="950" dirty="0"/>
          </a:p>
        </p:txBody>
      </p:sp>
      <p:sp>
        <p:nvSpPr>
          <p:cNvPr id="34" name="Shape 32"/>
          <p:cNvSpPr/>
          <p:nvPr/>
        </p:nvSpPr>
        <p:spPr>
          <a:xfrm>
            <a:off x="256032" y="4169664"/>
            <a:ext cx="5257800" cy="502920"/>
          </a:xfrm>
          <a:prstGeom prst="rect">
            <a:avLst/>
          </a:prstGeom>
          <a:solidFill>
            <a:srgbClr val="FFFFFF"/>
          </a:solidFill>
          <a:ln w="3810">
            <a:solidFill>
              <a:srgbClr val="D0E9F7"/>
            </a:solidFill>
            <a:prstDash val="solid"/>
          </a:ln>
        </p:spPr>
        <p:txBody>
          <a:bodyPr/>
          <a:lstStyle/>
          <a:p>
            <a:endParaRPr lang="en-IN"/>
          </a:p>
        </p:txBody>
      </p:sp>
      <p:sp>
        <p:nvSpPr>
          <p:cNvPr id="35" name="Shape 33"/>
          <p:cNvSpPr/>
          <p:nvPr/>
        </p:nvSpPr>
        <p:spPr>
          <a:xfrm>
            <a:off x="256032" y="4169664"/>
            <a:ext cx="64008" cy="502920"/>
          </a:xfrm>
          <a:prstGeom prst="rect">
            <a:avLst/>
          </a:prstGeom>
          <a:solidFill>
            <a:srgbClr val="6BAED6"/>
          </a:solidFill>
          <a:ln w="12700">
            <a:solidFill>
              <a:srgbClr val="6BAED6"/>
            </a:solidFill>
            <a:prstDash val="solid"/>
          </a:ln>
        </p:spPr>
        <p:txBody>
          <a:bodyPr/>
          <a:lstStyle/>
          <a:p>
            <a:endParaRPr lang="en-IN"/>
          </a:p>
        </p:txBody>
      </p:sp>
      <p:sp>
        <p:nvSpPr>
          <p:cNvPr id="36" name="Text 34"/>
          <p:cNvSpPr/>
          <p:nvPr/>
        </p:nvSpPr>
        <p:spPr>
          <a:xfrm>
            <a:off x="384048" y="4169664"/>
            <a:ext cx="914400" cy="502920"/>
          </a:xfrm>
          <a:prstGeom prst="rect">
            <a:avLst/>
          </a:prstGeom>
          <a:noFill/>
          <a:ln/>
        </p:spPr>
        <p:txBody>
          <a:bodyPr wrap="square" lIns="0" tIns="0" rIns="0" bIns="0" rtlCol="0" anchor="ctr"/>
          <a:lstStyle/>
          <a:p>
            <a:pPr marL="0" indent="0">
              <a:buNone/>
            </a:pPr>
            <a:r>
              <a:rPr lang="en-US" sz="1000" b="1" dirty="0">
                <a:solidFill>
                  <a:srgbClr val="6BAED6"/>
                </a:solidFill>
              </a:rPr>
              <a:t>Media</a:t>
            </a:r>
            <a:endParaRPr lang="en-US" sz="1000" dirty="0"/>
          </a:p>
        </p:txBody>
      </p:sp>
      <p:sp>
        <p:nvSpPr>
          <p:cNvPr id="37" name="Text 35"/>
          <p:cNvSpPr/>
          <p:nvPr/>
        </p:nvSpPr>
        <p:spPr>
          <a:xfrm>
            <a:off x="1389888" y="4169664"/>
            <a:ext cx="1463040" cy="502920"/>
          </a:xfrm>
          <a:prstGeom prst="rect">
            <a:avLst/>
          </a:prstGeom>
          <a:noFill/>
          <a:ln/>
        </p:spPr>
        <p:txBody>
          <a:bodyPr wrap="square" lIns="0" tIns="0" rIns="0" bIns="0" rtlCol="0" anchor="ctr"/>
          <a:lstStyle/>
          <a:p>
            <a:pPr marL="0" indent="0">
              <a:buNone/>
            </a:pPr>
            <a:r>
              <a:rPr lang="en-US" sz="1000" dirty="0">
                <a:solidFill>
                  <a:srgbClr val="1A3A52"/>
                </a:solidFill>
              </a:rPr>
              <a:t>ffmpeg + StaticFiles</a:t>
            </a:r>
            <a:endParaRPr lang="en-US" sz="1000" dirty="0"/>
          </a:p>
        </p:txBody>
      </p:sp>
      <p:sp>
        <p:nvSpPr>
          <p:cNvPr id="38" name="Text 36"/>
          <p:cNvSpPr/>
          <p:nvPr/>
        </p:nvSpPr>
        <p:spPr>
          <a:xfrm>
            <a:off x="2944368" y="4169664"/>
            <a:ext cx="2487168" cy="502920"/>
          </a:xfrm>
          <a:prstGeom prst="rect">
            <a:avLst/>
          </a:prstGeom>
          <a:noFill/>
          <a:ln/>
        </p:spPr>
        <p:txBody>
          <a:bodyPr wrap="square" lIns="0" tIns="0" rIns="0" bIns="0" rtlCol="0" anchor="ctr"/>
          <a:lstStyle/>
          <a:p>
            <a:pPr marL="0" indent="0">
              <a:buNone/>
            </a:pPr>
            <a:r>
              <a:rPr lang="en-US" sz="950" dirty="0">
                <a:solidFill>
                  <a:srgbClr val="3A6E94"/>
                </a:solidFill>
              </a:rPr>
              <a:t>Audio extract &amp; direct video file serving</a:t>
            </a:r>
            <a:endParaRPr lang="en-US" sz="950" dirty="0"/>
          </a:p>
        </p:txBody>
      </p:sp>
      <p:sp>
        <p:nvSpPr>
          <p:cNvPr id="39" name="Shape 37"/>
          <p:cNvSpPr/>
          <p:nvPr/>
        </p:nvSpPr>
        <p:spPr>
          <a:xfrm>
            <a:off x="5833872" y="1005840"/>
            <a:ext cx="969264" cy="969264"/>
          </a:xfrm>
          <a:prstGeom prst="ellipse">
            <a:avLst/>
          </a:prstGeom>
          <a:solidFill>
            <a:srgbClr val="6BAED6"/>
          </a:solidFill>
          <a:ln w="12700">
            <a:solidFill>
              <a:srgbClr val="6BAED6"/>
            </a:solidFill>
            <a:prstDash val="solid"/>
          </a:ln>
        </p:spPr>
        <p:txBody>
          <a:bodyPr/>
          <a:lstStyle/>
          <a:p>
            <a:endParaRPr lang="en-IN"/>
          </a:p>
        </p:txBody>
      </p:sp>
      <p:sp>
        <p:nvSpPr>
          <p:cNvPr id="40" name="Text 38"/>
          <p:cNvSpPr/>
          <p:nvPr/>
        </p:nvSpPr>
        <p:spPr>
          <a:xfrm>
            <a:off x="5833872" y="1294326"/>
            <a:ext cx="969264"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Georgia" pitchFamily="34" charset="0"/>
                <a:ea typeface="Georgia" pitchFamily="34" charset="-122"/>
                <a:cs typeface="Georgia" pitchFamily="34" charset="-120"/>
              </a:rPr>
              <a:t>6</a:t>
            </a:r>
            <a:endParaRPr lang="en-US" sz="2400" dirty="0"/>
          </a:p>
        </p:txBody>
      </p:sp>
      <p:sp>
        <p:nvSpPr>
          <p:cNvPr id="41" name="Text 39"/>
          <p:cNvSpPr/>
          <p:nvPr/>
        </p:nvSpPr>
        <p:spPr>
          <a:xfrm>
            <a:off x="5779008" y="2029968"/>
            <a:ext cx="1078992" cy="292608"/>
          </a:xfrm>
          <a:prstGeom prst="rect">
            <a:avLst/>
          </a:prstGeom>
          <a:noFill/>
          <a:ln/>
        </p:spPr>
        <p:txBody>
          <a:bodyPr wrap="square" lIns="0" tIns="0" rIns="0" bIns="0" rtlCol="0" anchor="ctr"/>
          <a:lstStyle/>
          <a:p>
            <a:pPr marL="0" indent="0" algn="ctr">
              <a:buNone/>
            </a:pPr>
            <a:r>
              <a:rPr lang="en-US" sz="850" dirty="0">
                <a:solidFill>
                  <a:srgbClr val="3A6E94"/>
                </a:solidFill>
              </a:rPr>
              <a:t>Core Features</a:t>
            </a:r>
            <a:endParaRPr lang="en-US" sz="850" dirty="0"/>
          </a:p>
        </p:txBody>
      </p:sp>
      <p:sp>
        <p:nvSpPr>
          <p:cNvPr id="42" name="Shape 40"/>
          <p:cNvSpPr/>
          <p:nvPr/>
        </p:nvSpPr>
        <p:spPr>
          <a:xfrm>
            <a:off x="6912864" y="1005840"/>
            <a:ext cx="969264" cy="969264"/>
          </a:xfrm>
          <a:prstGeom prst="ellipse">
            <a:avLst/>
          </a:prstGeom>
          <a:solidFill>
            <a:srgbClr val="6BAED6"/>
          </a:solidFill>
          <a:ln w="12700">
            <a:solidFill>
              <a:srgbClr val="6BAED6"/>
            </a:solidFill>
            <a:prstDash val="solid"/>
          </a:ln>
        </p:spPr>
        <p:txBody>
          <a:bodyPr/>
          <a:lstStyle/>
          <a:p>
            <a:endParaRPr lang="en-IN"/>
          </a:p>
        </p:txBody>
      </p:sp>
      <p:sp>
        <p:nvSpPr>
          <p:cNvPr id="43" name="Text 41"/>
          <p:cNvSpPr/>
          <p:nvPr/>
        </p:nvSpPr>
        <p:spPr>
          <a:xfrm>
            <a:off x="6912864" y="1249880"/>
            <a:ext cx="969264"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Georgia" pitchFamily="34" charset="0"/>
                <a:ea typeface="Georgia" pitchFamily="34" charset="-122"/>
                <a:cs typeface="Georgia" pitchFamily="34" charset="-120"/>
              </a:rPr>
              <a:t>3×</a:t>
            </a:r>
            <a:endParaRPr lang="en-US" sz="2400" dirty="0"/>
          </a:p>
        </p:txBody>
      </p:sp>
      <p:sp>
        <p:nvSpPr>
          <p:cNvPr id="44" name="Text 42"/>
          <p:cNvSpPr/>
          <p:nvPr/>
        </p:nvSpPr>
        <p:spPr>
          <a:xfrm>
            <a:off x="6858000" y="2029968"/>
            <a:ext cx="1078992" cy="292608"/>
          </a:xfrm>
          <a:prstGeom prst="rect">
            <a:avLst/>
          </a:prstGeom>
          <a:noFill/>
          <a:ln/>
        </p:spPr>
        <p:txBody>
          <a:bodyPr wrap="square" lIns="0" tIns="0" rIns="0" bIns="0" rtlCol="0" anchor="ctr"/>
          <a:lstStyle/>
          <a:p>
            <a:pPr marL="0" indent="0" algn="ctr">
              <a:buNone/>
            </a:pPr>
            <a:r>
              <a:rPr lang="en-US" sz="850" dirty="0">
                <a:solidFill>
                  <a:srgbClr val="3A6E94"/>
                </a:solidFill>
              </a:rPr>
              <a:t>AI calls/query</a:t>
            </a:r>
            <a:endParaRPr lang="en-US" sz="850" dirty="0"/>
          </a:p>
        </p:txBody>
      </p:sp>
      <p:sp>
        <p:nvSpPr>
          <p:cNvPr id="45" name="Shape 43"/>
          <p:cNvSpPr/>
          <p:nvPr/>
        </p:nvSpPr>
        <p:spPr>
          <a:xfrm>
            <a:off x="7991856" y="1005840"/>
            <a:ext cx="969264" cy="969264"/>
          </a:xfrm>
          <a:prstGeom prst="ellipse">
            <a:avLst/>
          </a:prstGeom>
          <a:solidFill>
            <a:srgbClr val="6BAED6"/>
          </a:solidFill>
          <a:ln w="12700">
            <a:solidFill>
              <a:srgbClr val="6BAED6"/>
            </a:solidFill>
            <a:prstDash val="solid"/>
          </a:ln>
        </p:spPr>
        <p:txBody>
          <a:bodyPr/>
          <a:lstStyle/>
          <a:p>
            <a:endParaRPr lang="en-IN"/>
          </a:p>
        </p:txBody>
      </p:sp>
      <p:sp>
        <p:nvSpPr>
          <p:cNvPr id="46" name="Text 44"/>
          <p:cNvSpPr/>
          <p:nvPr/>
        </p:nvSpPr>
        <p:spPr>
          <a:xfrm>
            <a:off x="7991856" y="1263671"/>
            <a:ext cx="969264"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Georgia" pitchFamily="34" charset="0"/>
                <a:ea typeface="Georgia" pitchFamily="34" charset="-122"/>
                <a:cs typeface="Georgia" pitchFamily="34" charset="-120"/>
              </a:rPr>
              <a:t>2</a:t>
            </a:r>
            <a:endParaRPr lang="en-US" sz="2400" dirty="0"/>
          </a:p>
        </p:txBody>
      </p:sp>
      <p:sp>
        <p:nvSpPr>
          <p:cNvPr id="47" name="Text 45"/>
          <p:cNvSpPr/>
          <p:nvPr/>
        </p:nvSpPr>
        <p:spPr>
          <a:xfrm>
            <a:off x="7936992" y="2029968"/>
            <a:ext cx="1078992" cy="292608"/>
          </a:xfrm>
          <a:prstGeom prst="rect">
            <a:avLst/>
          </a:prstGeom>
          <a:noFill/>
          <a:ln/>
        </p:spPr>
        <p:txBody>
          <a:bodyPr wrap="square" lIns="0" tIns="0" rIns="0" bIns="0" rtlCol="0" anchor="ctr"/>
          <a:lstStyle/>
          <a:p>
            <a:pPr marL="0" indent="0" algn="ctr">
              <a:buNone/>
            </a:pPr>
            <a:r>
              <a:rPr lang="en-US" sz="850" dirty="0">
                <a:solidFill>
                  <a:srgbClr val="3A6E94"/>
                </a:solidFill>
              </a:rPr>
              <a:t>Databases/thought</a:t>
            </a:r>
            <a:endParaRPr lang="en-US" sz="850" dirty="0"/>
          </a:p>
        </p:txBody>
      </p:sp>
      <p:sp>
        <p:nvSpPr>
          <p:cNvPr id="48" name="Shape 46"/>
          <p:cNvSpPr/>
          <p:nvPr/>
        </p:nvSpPr>
        <p:spPr>
          <a:xfrm>
            <a:off x="5715000" y="2487168"/>
            <a:ext cx="3154680" cy="1298448"/>
          </a:xfrm>
          <a:prstGeom prst="rect">
            <a:avLst/>
          </a:prstGeom>
          <a:solidFill>
            <a:srgbClr val="E8F4FB"/>
          </a:solidFill>
          <a:ln w="6350">
            <a:solidFill>
              <a:srgbClr val="D0E9F7"/>
            </a:solidFill>
            <a:prstDash val="solid"/>
          </a:ln>
        </p:spPr>
        <p:txBody>
          <a:bodyPr/>
          <a:lstStyle/>
          <a:p>
            <a:endParaRPr lang="en-IN"/>
          </a:p>
        </p:txBody>
      </p:sp>
      <p:sp>
        <p:nvSpPr>
          <p:cNvPr id="49" name="Shape 47"/>
          <p:cNvSpPr/>
          <p:nvPr/>
        </p:nvSpPr>
        <p:spPr>
          <a:xfrm>
            <a:off x="5715000" y="2487168"/>
            <a:ext cx="3154680" cy="64008"/>
          </a:xfrm>
          <a:prstGeom prst="rect">
            <a:avLst/>
          </a:prstGeom>
          <a:solidFill>
            <a:srgbClr val="6BAED6"/>
          </a:solidFill>
          <a:ln w="12700">
            <a:solidFill>
              <a:srgbClr val="6BAED6"/>
            </a:solidFill>
            <a:prstDash val="solid"/>
          </a:ln>
        </p:spPr>
        <p:txBody>
          <a:bodyPr/>
          <a:lstStyle/>
          <a:p>
            <a:endParaRPr lang="en-IN"/>
          </a:p>
        </p:txBody>
      </p:sp>
      <p:pic>
        <p:nvPicPr>
          <p:cNvPr id="50" name="Image 0" descr="preencoded.png"/>
          <p:cNvPicPr>
            <a:picLocks noChangeAspect="1"/>
          </p:cNvPicPr>
          <p:nvPr/>
        </p:nvPicPr>
        <p:blipFill>
          <a:blip r:embed="rId3"/>
          <a:stretch>
            <a:fillRect/>
          </a:stretch>
        </p:blipFill>
        <p:spPr>
          <a:xfrm>
            <a:off x="5833872" y="2578608"/>
            <a:ext cx="292608" cy="292608"/>
          </a:xfrm>
          <a:prstGeom prst="rect">
            <a:avLst/>
          </a:prstGeom>
        </p:spPr>
      </p:pic>
      <p:sp>
        <p:nvSpPr>
          <p:cNvPr id="51" name="Text 48"/>
          <p:cNvSpPr/>
          <p:nvPr/>
        </p:nvSpPr>
        <p:spPr>
          <a:xfrm>
            <a:off x="6199632" y="2578608"/>
            <a:ext cx="2560320" cy="292608"/>
          </a:xfrm>
          <a:prstGeom prst="rect">
            <a:avLst/>
          </a:prstGeom>
          <a:noFill/>
          <a:ln/>
        </p:spPr>
        <p:txBody>
          <a:bodyPr wrap="square" lIns="0" tIns="0" rIns="0" bIns="0" rtlCol="0" anchor="ctr"/>
          <a:lstStyle/>
          <a:p>
            <a:pPr marL="0" indent="0">
              <a:buNone/>
            </a:pPr>
            <a:r>
              <a:rPr lang="en-US" sz="1100" b="1" dirty="0">
                <a:solidFill>
                  <a:srgbClr val="6BAED6"/>
                </a:solidFill>
                <a:latin typeface="Georgia" pitchFamily="34" charset="0"/>
                <a:ea typeface="Georgia" pitchFamily="34" charset="-122"/>
                <a:cs typeface="Georgia" pitchFamily="34" charset="-120"/>
              </a:rPr>
              <a:t>Core Insight</a:t>
            </a:r>
            <a:endParaRPr lang="en-US" sz="1100" dirty="0"/>
          </a:p>
        </p:txBody>
      </p:sp>
      <p:sp>
        <p:nvSpPr>
          <p:cNvPr id="52" name="Text 49"/>
          <p:cNvSpPr/>
          <p:nvPr/>
        </p:nvSpPr>
        <p:spPr>
          <a:xfrm>
            <a:off x="5833872" y="2944368"/>
            <a:ext cx="2907792" cy="749808"/>
          </a:xfrm>
          <a:prstGeom prst="rect">
            <a:avLst/>
          </a:prstGeom>
          <a:noFill/>
          <a:ln/>
        </p:spPr>
        <p:txBody>
          <a:bodyPr wrap="square" lIns="0" tIns="0" rIns="0" bIns="0" rtlCol="0" anchor="ctr"/>
          <a:lstStyle/>
          <a:p>
            <a:pPr marL="0" indent="0">
              <a:buNone/>
            </a:pPr>
            <a:r>
              <a:rPr lang="en-US" sz="950" i="1" dirty="0">
                <a:solidFill>
                  <a:srgbClr val="3A6E94"/>
                </a:solidFill>
              </a:rPr>
              <a:t>Dual storage (SQLite + ChromaDB) + 3-call AI enrichment + ffmpeg audio extraction — all inside one single FastAPI service.</a:t>
            </a:r>
            <a:endParaRPr lang="en-US" sz="950" dirty="0"/>
          </a:p>
        </p:txBody>
      </p:sp>
      <p:sp>
        <p:nvSpPr>
          <p:cNvPr id="53" name="Shape 50"/>
          <p:cNvSpPr/>
          <p:nvPr/>
        </p:nvSpPr>
        <p:spPr>
          <a:xfrm>
            <a:off x="5715000" y="3858768"/>
            <a:ext cx="3154680" cy="713232"/>
          </a:xfrm>
          <a:prstGeom prst="rect">
            <a:avLst/>
          </a:prstGeom>
          <a:solidFill>
            <a:srgbClr val="6BAED6"/>
          </a:solidFill>
          <a:ln w="12700">
            <a:solidFill>
              <a:srgbClr val="6BAED6"/>
            </a:solidFill>
            <a:prstDash val="solid"/>
          </a:ln>
        </p:spPr>
        <p:txBody>
          <a:bodyPr/>
          <a:lstStyle/>
          <a:p>
            <a:endParaRPr lang="en-IN"/>
          </a:p>
        </p:txBody>
      </p:sp>
      <p:sp>
        <p:nvSpPr>
          <p:cNvPr id="54" name="Text 51"/>
          <p:cNvSpPr/>
          <p:nvPr/>
        </p:nvSpPr>
        <p:spPr>
          <a:xfrm>
            <a:off x="5715000" y="3858768"/>
            <a:ext cx="3154680" cy="713232"/>
          </a:xfrm>
          <a:prstGeom prst="rect">
            <a:avLst/>
          </a:prstGeom>
          <a:noFill/>
          <a:ln/>
        </p:spPr>
        <p:txBody>
          <a:bodyPr wrap="square" lIns="0" tIns="0" rIns="0" bIns="0" rtlCol="0" anchor="ctr"/>
          <a:lstStyle/>
          <a:p>
            <a:pPr marL="0" indent="0" algn="ctr">
              <a:buNone/>
            </a:pPr>
            <a:r>
              <a:rPr lang="en-US" sz="2600" b="1" dirty="0">
                <a:solidFill>
                  <a:srgbClr val="FFFFFF"/>
                </a:solidFill>
                <a:latin typeface="Georgia" pitchFamily="34" charset="0"/>
                <a:ea typeface="Georgia" pitchFamily="34" charset="-122"/>
                <a:cs typeface="Georgia" pitchFamily="34" charset="-120"/>
              </a:rPr>
              <a:t>Thank You!</a:t>
            </a:r>
            <a:endParaRPr lang="en-US" sz="2600" dirty="0"/>
          </a:p>
        </p:txBody>
      </p:sp>
      <p:sp>
        <p:nvSpPr>
          <p:cNvPr id="55" name="Shape 52"/>
          <p:cNvSpPr/>
          <p:nvPr/>
        </p:nvSpPr>
        <p:spPr>
          <a:xfrm>
            <a:off x="0" y="4773168"/>
            <a:ext cx="9144000" cy="370332"/>
          </a:xfrm>
          <a:prstGeom prst="rect">
            <a:avLst/>
          </a:prstGeom>
          <a:solidFill>
            <a:srgbClr val="D0E9F7"/>
          </a:solidFill>
          <a:ln w="12700">
            <a:solidFill>
              <a:srgbClr val="D0E9F7"/>
            </a:solidFill>
            <a:prstDash val="solid"/>
          </a:ln>
        </p:spPr>
        <p:txBody>
          <a:bodyPr/>
          <a:lstStyle/>
          <a:p>
            <a:endParaRPr lang="en-IN"/>
          </a:p>
        </p:txBody>
      </p:sp>
      <p:sp>
        <p:nvSpPr>
          <p:cNvPr id="56" name="Text 53"/>
          <p:cNvSpPr/>
          <p:nvPr/>
        </p:nvSpPr>
        <p:spPr>
          <a:xfrm>
            <a:off x="0" y="4773168"/>
            <a:ext cx="9144000" cy="370332"/>
          </a:xfrm>
          <a:prstGeom prst="rect">
            <a:avLst/>
          </a:prstGeom>
          <a:noFill/>
          <a:ln/>
        </p:spPr>
        <p:txBody>
          <a:bodyPr wrap="square" lIns="0" tIns="0" rIns="0" bIns="0" rtlCol="0" anchor="ctr"/>
          <a:lstStyle/>
          <a:p>
            <a:pPr marL="0" indent="0" algn="ctr">
              <a:buNone/>
            </a:pPr>
            <a:r>
              <a:rPr lang="en-US" sz="950" dirty="0">
                <a:solidFill>
                  <a:srgbClr val="3A6E94"/>
                </a:solidFill>
              </a:rPr>
              <a:t>EchoMind  ·  Built with FastAPI · Groq · ChromaDB · SQLite · ffmpeg</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168</TotalTime>
  <Words>612</Words>
  <Application>Microsoft Office PowerPoint</Application>
  <PresentationFormat>On-screen Show (16:9)</PresentationFormat>
  <Paragraphs>122</Paragraphs>
  <Slides>5</Slides>
  <Notes>4</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EchoMind – AI Second Brain</dc:title>
  <dc:subject>PptxGenJS Presentation</dc:subject>
  <dc:creator>PptxGenJS</dc:creator>
  <cp:lastModifiedBy>SAI SRAVYA MANCHI</cp:lastModifiedBy>
  <cp:revision>3</cp:revision>
  <dcterms:created xsi:type="dcterms:W3CDTF">2026-04-02T01:21:12Z</dcterms:created>
  <dcterms:modified xsi:type="dcterms:W3CDTF">2026-06-01T15:46:19Z</dcterms:modified>
</cp:coreProperties>
</file>